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autoCompressPictures="0">
  <p:sldMasterIdLst>
    <p:sldMasterId id="2147483651" r:id="rId1"/>
  </p:sldMasterIdLst>
  <p:notesMasterIdLst>
    <p:notesMasterId r:id="rId24"/>
  </p:notesMasterIdLst>
  <p:handoutMasterIdLst>
    <p:handoutMasterId r:id="rId25"/>
  </p:handoutMasterIdLst>
  <p:sldIdLst>
    <p:sldId id="298" r:id="rId2"/>
    <p:sldId id="320" r:id="rId3"/>
    <p:sldId id="326" r:id="rId4"/>
    <p:sldId id="322" r:id="rId5"/>
    <p:sldId id="341" r:id="rId6"/>
    <p:sldId id="324" r:id="rId7"/>
    <p:sldId id="337" r:id="rId8"/>
    <p:sldId id="328" r:id="rId9"/>
    <p:sldId id="333" r:id="rId10"/>
    <p:sldId id="330" r:id="rId11"/>
    <p:sldId id="331" r:id="rId12"/>
    <p:sldId id="332" r:id="rId13"/>
    <p:sldId id="334" r:id="rId14"/>
    <p:sldId id="335" r:id="rId15"/>
    <p:sldId id="336" r:id="rId16"/>
    <p:sldId id="327" r:id="rId17"/>
    <p:sldId id="323" r:id="rId18"/>
    <p:sldId id="325" r:id="rId19"/>
    <p:sldId id="339" r:id="rId20"/>
    <p:sldId id="338" r:id="rId21"/>
    <p:sldId id="340" r:id="rId22"/>
    <p:sldId id="297"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napVertSplitter="1" vertBarState="minimized" horzBarState="maximized">
    <p:restoredLeft sz="34559" autoAdjust="0"/>
    <p:restoredTop sz="86369" autoAdjust="0"/>
  </p:normalViewPr>
  <p:slideViewPr>
    <p:cSldViewPr snapToGrid="0" showGuides="1">
      <p:cViewPr varScale="1">
        <p:scale>
          <a:sx n="78" d="100"/>
          <a:sy n="78" d="100"/>
        </p:scale>
        <p:origin x="524" y="6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48" d="100"/>
          <a:sy n="48" d="100"/>
        </p:scale>
        <p:origin x="2752" y="3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4E53989-2205-563E-FBC9-0D51E805A36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FB17E003-1302-43E4-6A81-3A64296F04D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A39EC28-9842-4256-863D-33A48033AE21}" type="datetimeFigureOut">
              <a:rPr lang="en-IN" smtClean="0"/>
              <a:pPr/>
              <a:t>16-04-2026</a:t>
            </a:fld>
            <a:endParaRPr lang="en-IN"/>
          </a:p>
        </p:txBody>
      </p:sp>
      <p:sp>
        <p:nvSpPr>
          <p:cNvPr id="4" name="Footer Placeholder 3">
            <a:extLst>
              <a:ext uri="{FF2B5EF4-FFF2-40B4-BE49-F238E27FC236}">
                <a16:creationId xmlns:a16="http://schemas.microsoft.com/office/drawing/2014/main" id="{0945894B-B61C-510A-B395-3BDDF8C2256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F7AC3F20-7D86-9C22-BE86-2EA8DB9056C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57B44A2-77C2-4F8C-88CA-6C096607D4FF}" type="slidenum">
              <a:rPr lang="en-IN" smtClean="0"/>
              <a:pPr/>
              <a:t>‹#›</a:t>
            </a:fld>
            <a:endParaRPr lang="en-IN"/>
          </a:p>
        </p:txBody>
      </p:sp>
    </p:spTree>
    <p:extLst>
      <p:ext uri="{BB962C8B-B14F-4D97-AF65-F5344CB8AC3E}">
        <p14:creationId xmlns:p14="http://schemas.microsoft.com/office/powerpoint/2010/main" val="11710811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pPr marL="0" marR="0" lvl="0" indent="0" algn="r" rtl="0">
                <a:spcBef>
                  <a:spcPts val="0"/>
                </a:spcBef>
                <a:spcAft>
                  <a:spcPts val="0"/>
                </a:spcAft>
                <a:buNone/>
              </a:p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247214884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 name="Google Shape;5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A74E1-3340-6F56-BDBC-E56ED7AA1C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3ACC6FA-E627-0AB8-A542-51000B43FD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IN" dirty="0"/>
          </a:p>
        </p:txBody>
      </p:sp>
      <p:sp>
        <p:nvSpPr>
          <p:cNvPr id="4" name="Date Placeholder 3">
            <a:extLst>
              <a:ext uri="{FF2B5EF4-FFF2-40B4-BE49-F238E27FC236}">
                <a16:creationId xmlns:a16="http://schemas.microsoft.com/office/drawing/2014/main" id="{9D39796B-9780-60FE-6745-6F5AEF5B3FE0}"/>
              </a:ext>
            </a:extLst>
          </p:cNvPr>
          <p:cNvSpPr>
            <a:spLocks noGrp="1"/>
          </p:cNvSpPr>
          <p:nvPr>
            <p:ph type="dt" sz="half" idx="10"/>
          </p:nvPr>
        </p:nvSpPr>
        <p:spPr/>
        <p:txBody>
          <a:bodyPr/>
          <a:lstStyle/>
          <a:p>
            <a:fld id="{79E9745E-6313-4562-9C0D-7172F2638497}" type="datetimeFigureOut">
              <a:rPr lang="en-IN" smtClean="0"/>
              <a:pPr/>
              <a:t>16-04-2026</a:t>
            </a:fld>
            <a:endParaRPr lang="en-IN"/>
          </a:p>
        </p:txBody>
      </p:sp>
      <p:sp>
        <p:nvSpPr>
          <p:cNvPr id="6" name="Slide Number Placeholder 5">
            <a:extLst>
              <a:ext uri="{FF2B5EF4-FFF2-40B4-BE49-F238E27FC236}">
                <a16:creationId xmlns:a16="http://schemas.microsoft.com/office/drawing/2014/main" id="{CF2F7331-5B67-3250-C586-01EF942320D5}"/>
              </a:ext>
            </a:extLst>
          </p:cNvPr>
          <p:cNvSpPr>
            <a:spLocks noGrp="1"/>
          </p:cNvSpPr>
          <p:nvPr>
            <p:ph type="sldNum" sz="quarter" idx="12"/>
          </p:nvPr>
        </p:nvSpPr>
        <p:spPr/>
        <p:txBody>
          <a:bodyPr/>
          <a:lstStyle/>
          <a:p>
            <a:fld id="{C7350224-DF8F-4096-A979-6A4377B4A9C3}" type="slidenum">
              <a:rPr lang="en-IN" smtClean="0"/>
              <a:pPr/>
              <a:t>‹#›</a:t>
            </a:fld>
            <a:endParaRPr lang="en-IN"/>
          </a:p>
        </p:txBody>
      </p:sp>
    </p:spTree>
    <p:extLst>
      <p:ext uri="{BB962C8B-B14F-4D97-AF65-F5344CB8AC3E}">
        <p14:creationId xmlns:p14="http://schemas.microsoft.com/office/powerpoint/2010/main" val="3034523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A2613-C2B9-5410-7FB9-9913AF4692F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CD94C7-CF79-53A9-875B-8202F76A82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79E52B-4B91-97A0-58C2-9BDDEE9D78F8}"/>
              </a:ext>
            </a:extLst>
          </p:cNvPr>
          <p:cNvSpPr>
            <a:spLocks noGrp="1"/>
          </p:cNvSpPr>
          <p:nvPr>
            <p:ph type="dt" sz="half" idx="10"/>
          </p:nvPr>
        </p:nvSpPr>
        <p:spPr/>
        <p:txBody>
          <a:bodyPr/>
          <a:lstStyle/>
          <a:p>
            <a:fld id="{79E9745E-6313-4562-9C0D-7172F2638497}" type="datetimeFigureOut">
              <a:rPr lang="en-IN" smtClean="0"/>
              <a:pPr/>
              <a:t>16-04-2026</a:t>
            </a:fld>
            <a:endParaRPr lang="en-IN"/>
          </a:p>
        </p:txBody>
      </p:sp>
      <p:sp>
        <p:nvSpPr>
          <p:cNvPr id="6" name="Slide Number Placeholder 5">
            <a:extLst>
              <a:ext uri="{FF2B5EF4-FFF2-40B4-BE49-F238E27FC236}">
                <a16:creationId xmlns:a16="http://schemas.microsoft.com/office/drawing/2014/main" id="{55F34BBD-3A42-F599-D081-013FAF72C334}"/>
              </a:ext>
            </a:extLst>
          </p:cNvPr>
          <p:cNvSpPr>
            <a:spLocks noGrp="1"/>
          </p:cNvSpPr>
          <p:nvPr>
            <p:ph type="sldNum" sz="quarter" idx="12"/>
          </p:nvPr>
        </p:nvSpPr>
        <p:spPr/>
        <p:txBody>
          <a:bodyPr/>
          <a:lstStyle/>
          <a:p>
            <a:fld id="{C7350224-DF8F-4096-A979-6A4377B4A9C3}" type="slidenum">
              <a:rPr lang="en-IN" smtClean="0"/>
              <a:pPr/>
              <a:t>‹#›</a:t>
            </a:fld>
            <a:endParaRPr lang="en-IN"/>
          </a:p>
        </p:txBody>
      </p:sp>
    </p:spTree>
    <p:extLst>
      <p:ext uri="{BB962C8B-B14F-4D97-AF65-F5344CB8AC3E}">
        <p14:creationId xmlns:p14="http://schemas.microsoft.com/office/powerpoint/2010/main" val="35615931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5201D3-E53E-D714-CC11-37D4F1936F8E}"/>
              </a:ext>
            </a:extLst>
          </p:cNvPr>
          <p:cNvSpPr>
            <a:spLocks noGrp="1"/>
          </p:cNvSpPr>
          <p:nvPr>
            <p:ph type="title"/>
          </p:nvPr>
        </p:nvSpPr>
        <p:spPr>
          <a:xfrm>
            <a:off x="1709530" y="365125"/>
            <a:ext cx="964427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F6521201-ACA3-1B51-8905-F8A9C52CC0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3C36BFF5-F366-30A2-BF2E-95AC47BB03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E9745E-6313-4562-9C0D-7172F2638497}" type="datetimeFigureOut">
              <a:rPr lang="en-IN" smtClean="0"/>
              <a:pPr/>
              <a:t>16-04-2026</a:t>
            </a:fld>
            <a:endParaRPr lang="en-IN"/>
          </a:p>
        </p:txBody>
      </p:sp>
      <p:sp>
        <p:nvSpPr>
          <p:cNvPr id="6" name="Slide Number Placeholder 5">
            <a:extLst>
              <a:ext uri="{FF2B5EF4-FFF2-40B4-BE49-F238E27FC236}">
                <a16:creationId xmlns:a16="http://schemas.microsoft.com/office/drawing/2014/main" id="{BF1EB165-2588-C66A-F3C4-A96FA336BE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350224-DF8F-4096-A979-6A4377B4A9C3}" type="slidenum">
              <a:rPr lang="en-IN" smtClean="0"/>
              <a:pPr/>
              <a:t>‹#›</a:t>
            </a:fld>
            <a:endParaRPr lang="en-IN"/>
          </a:p>
        </p:txBody>
      </p:sp>
      <p:pic>
        <p:nvPicPr>
          <p:cNvPr id="8" name="Picture 7">
            <a:extLst>
              <a:ext uri="{FF2B5EF4-FFF2-40B4-BE49-F238E27FC236}">
                <a16:creationId xmlns:a16="http://schemas.microsoft.com/office/drawing/2014/main" id="{C8194245-5C6F-2231-F8D7-E894F3261246}"/>
              </a:ext>
            </a:extLst>
          </p:cNvPr>
          <p:cNvPicPr>
            <a:picLocks noChangeAspect="1"/>
          </p:cNvPicPr>
          <p:nvPr userDrawn="1"/>
        </p:nvPicPr>
        <p:blipFill>
          <a:blip r:embed="rId4"/>
          <a:stretch>
            <a:fillRect/>
          </a:stretch>
        </p:blipFill>
        <p:spPr>
          <a:xfrm>
            <a:off x="3815898" y="6364181"/>
            <a:ext cx="4560203" cy="493819"/>
          </a:xfrm>
          <a:prstGeom prst="rect">
            <a:avLst/>
          </a:prstGeom>
        </p:spPr>
      </p:pic>
      <p:pic>
        <p:nvPicPr>
          <p:cNvPr id="9" name="Google Shape;15;p7">
            <a:extLst>
              <a:ext uri="{FF2B5EF4-FFF2-40B4-BE49-F238E27FC236}">
                <a16:creationId xmlns:a16="http://schemas.microsoft.com/office/drawing/2014/main" id="{51271DAD-A7E5-55BF-3CDB-DD015C5DDF33}"/>
              </a:ext>
            </a:extLst>
          </p:cNvPr>
          <p:cNvPicPr preferRelativeResize="0"/>
          <p:nvPr userDrawn="1"/>
        </p:nvPicPr>
        <p:blipFill rotWithShape="1">
          <a:blip r:embed="rId5"/>
          <a:srcRect/>
          <a:stretch>
            <a:fillRect/>
          </a:stretch>
        </p:blipFill>
        <p:spPr>
          <a:xfrm>
            <a:off x="317151" y="318062"/>
            <a:ext cx="1175746" cy="1270065"/>
          </a:xfrm>
          <a:prstGeom prst="rect">
            <a:avLst/>
          </a:prstGeom>
          <a:noFill/>
          <a:ln>
            <a:noFill/>
          </a:ln>
        </p:spPr>
      </p:pic>
      <p:sp>
        <p:nvSpPr>
          <p:cNvPr id="10" name="Google Shape;16;p7">
            <a:extLst>
              <a:ext uri="{FF2B5EF4-FFF2-40B4-BE49-F238E27FC236}">
                <a16:creationId xmlns:a16="http://schemas.microsoft.com/office/drawing/2014/main" id="{A3A3EE8D-F041-5C3B-3B6A-7994F4A8F51E}"/>
              </a:ext>
            </a:extLst>
          </p:cNvPr>
          <p:cNvSpPr/>
          <p:nvPr userDrawn="1"/>
        </p:nvSpPr>
        <p:spPr>
          <a:xfrm>
            <a:off x="1492898" y="1548882"/>
            <a:ext cx="9860901" cy="141805"/>
          </a:xfrm>
          <a:prstGeom prst="roundRect">
            <a:avLst>
              <a:gd name="adj" fmla="val 16667"/>
            </a:avLst>
          </a:prstGeom>
          <a:solidFill>
            <a:srgbClr val="DA7214"/>
          </a:solidFill>
          <a:ln w="12700" cap="flat" cmpd="sng">
            <a:solidFill>
              <a:srgbClr val="FFC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1" name="Google Shape;17;p7">
            <a:extLst>
              <a:ext uri="{FF2B5EF4-FFF2-40B4-BE49-F238E27FC236}">
                <a16:creationId xmlns:a16="http://schemas.microsoft.com/office/drawing/2014/main" id="{8A75AA27-9D89-0C5F-0F0B-6C5831BEF435}"/>
              </a:ext>
            </a:extLst>
          </p:cNvPr>
          <p:cNvSpPr/>
          <p:nvPr userDrawn="1"/>
        </p:nvSpPr>
        <p:spPr>
          <a:xfrm>
            <a:off x="317150" y="1541064"/>
            <a:ext cx="1175749" cy="182000"/>
          </a:xfrm>
          <a:prstGeom prst="chevron">
            <a:avLst>
              <a:gd name="adj" fmla="val 50000"/>
            </a:avLst>
          </a:prstGeom>
          <a:solidFill>
            <a:srgbClr val="00B0F0"/>
          </a:solidFill>
          <a:ln w="12700" cap="flat" cmpd="sng">
            <a:solidFill>
              <a:srgbClr val="DA72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1549633531"/>
      </p:ext>
    </p:extLst>
  </p:cSld>
  <p:clrMap bg1="lt1" tx1="dk1" bg2="lt2" tx2="dk2" accent1="accent1" accent2="accent2" accent3="accent3" accent4="accent4" accent5="accent5" accent6="accent6" hlink="hlink" folHlink="folHlink"/>
  <p:sldLayoutIdLst>
    <p:sldLayoutId id="2147483652" r:id="rId1"/>
    <p:sldLayoutId id="2147483653"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24260" y="2300391"/>
            <a:ext cx="9822815" cy="502702"/>
          </a:xfrm>
          <a:prstGeom prst="rect">
            <a:avLst/>
          </a:prstGeom>
        </p:spPr>
        <p:txBody>
          <a:bodyPr vert="horz" wrap="square" lIns="0" tIns="11430" rIns="0" bIns="0" rtlCol="0">
            <a:spAutoFit/>
          </a:bodyPr>
          <a:lstStyle/>
          <a:p>
            <a:pPr marL="12065" marR="5080" indent="100965" algn="ctr">
              <a:lnSpc>
                <a:spcPct val="101000"/>
              </a:lnSpc>
              <a:spcBef>
                <a:spcPts val="90"/>
              </a:spcBef>
            </a:pPr>
            <a:r>
              <a:rPr lang="en-IN" sz="3350" b="1" dirty="0">
                <a:latin typeface="Times New Roman" panose="02020603050405020304"/>
                <a:cs typeface="Times New Roman" panose="02020603050405020304"/>
              </a:rPr>
              <a:t>DermaAI – Personalized Skincare </a:t>
            </a:r>
            <a:endParaRPr sz="3350" b="1" dirty="0">
              <a:latin typeface="Times New Roman" panose="02020603050405020304"/>
              <a:cs typeface="Times New Roman" panose="02020603050405020304"/>
            </a:endParaRPr>
          </a:p>
        </p:txBody>
      </p:sp>
      <p:sp>
        <p:nvSpPr>
          <p:cNvPr id="3" name="object 3"/>
          <p:cNvSpPr txBox="1"/>
          <p:nvPr/>
        </p:nvSpPr>
        <p:spPr>
          <a:xfrm>
            <a:off x="7315200" y="4557609"/>
            <a:ext cx="2251015" cy="31496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panose="02020603050405020304"/>
                <a:cs typeface="Times New Roman" panose="02020603050405020304"/>
              </a:rPr>
              <a:t>By</a:t>
            </a:r>
            <a:r>
              <a:rPr sz="1800" spc="-30" dirty="0">
                <a:latin typeface="Times New Roman" panose="02020603050405020304"/>
                <a:cs typeface="Times New Roman" panose="02020603050405020304"/>
              </a:rPr>
              <a:t> </a:t>
            </a:r>
            <a:r>
              <a:rPr sz="1800" dirty="0">
                <a:latin typeface="Times New Roman" panose="02020603050405020304"/>
                <a:cs typeface="Times New Roman" panose="02020603050405020304"/>
              </a:rPr>
              <a:t>:</a:t>
            </a:r>
            <a:r>
              <a:rPr sz="1900" b="1" spc="-20" dirty="0">
                <a:latin typeface="Times New Roman" panose="02020603050405020304"/>
                <a:cs typeface="Times New Roman" panose="02020603050405020304"/>
              </a:rPr>
              <a:t>Team</a:t>
            </a:r>
            <a:r>
              <a:rPr sz="1900" b="1" spc="-15" dirty="0">
                <a:latin typeface="Times New Roman" panose="02020603050405020304"/>
                <a:cs typeface="Times New Roman" panose="02020603050405020304"/>
              </a:rPr>
              <a:t> </a:t>
            </a:r>
            <a:r>
              <a:rPr lang="en-US" sz="1900" b="1" spc="-25" dirty="0">
                <a:latin typeface="Times New Roman" panose="02020603050405020304"/>
                <a:cs typeface="Times New Roman" panose="02020603050405020304"/>
              </a:rPr>
              <a:t>47</a:t>
            </a:r>
            <a:endParaRPr sz="1900" dirty="0">
              <a:latin typeface="Times New Roman" panose="02020603050405020304"/>
              <a:cs typeface="Times New Roman" panose="02020603050405020304"/>
            </a:endParaRPr>
          </a:p>
        </p:txBody>
      </p:sp>
      <p:sp>
        <p:nvSpPr>
          <p:cNvPr id="4" name="object 4"/>
          <p:cNvSpPr txBox="1"/>
          <p:nvPr/>
        </p:nvSpPr>
        <p:spPr>
          <a:xfrm>
            <a:off x="7315200" y="4847372"/>
            <a:ext cx="1759525" cy="349519"/>
          </a:xfrm>
          <a:prstGeom prst="rect">
            <a:avLst/>
          </a:prstGeom>
        </p:spPr>
        <p:txBody>
          <a:bodyPr vert="horz" wrap="square" lIns="0" tIns="12700" rIns="0" bIns="0" rtlCol="0">
            <a:spAutoFit/>
          </a:bodyPr>
          <a:lstStyle/>
          <a:p>
            <a:pPr marL="12700" marR="5080">
              <a:lnSpc>
                <a:spcPct val="136000"/>
              </a:lnSpc>
              <a:spcBef>
                <a:spcPts val="100"/>
              </a:spcBef>
            </a:pPr>
            <a:r>
              <a:rPr sz="1800" spc="-10" dirty="0">
                <a:latin typeface="Times New Roman" panose="02020603050405020304"/>
                <a:cs typeface="Times New Roman" panose="02020603050405020304"/>
              </a:rPr>
              <a:t> </a:t>
            </a:r>
            <a:endParaRPr sz="1800" dirty="0">
              <a:latin typeface="Times New Roman" panose="02020603050405020304"/>
              <a:cs typeface="Times New Roman" panose="02020603050405020304"/>
            </a:endParaRPr>
          </a:p>
        </p:txBody>
      </p:sp>
      <p:sp>
        <p:nvSpPr>
          <p:cNvPr id="6" name="object 6"/>
          <p:cNvSpPr txBox="1">
            <a:spLocks noGrp="1"/>
          </p:cNvSpPr>
          <p:nvPr>
            <p:ph type="title"/>
          </p:nvPr>
        </p:nvSpPr>
        <p:spPr>
          <a:xfrm>
            <a:off x="1492897" y="413932"/>
            <a:ext cx="10364157" cy="1227948"/>
          </a:xfrm>
          <a:prstGeom prst="rect">
            <a:avLst/>
          </a:prstGeom>
        </p:spPr>
        <p:txBody>
          <a:bodyPr vert="horz" wrap="square" lIns="0" tIns="85772" rIns="0" bIns="0" rtlCol="0">
            <a:spAutoFit/>
          </a:bodyPr>
          <a:lstStyle/>
          <a:p>
            <a:pPr marL="292735" algn="ctr">
              <a:lnSpc>
                <a:spcPts val="3935"/>
              </a:lnSpc>
              <a:spcBef>
                <a:spcPts val="100"/>
              </a:spcBef>
            </a:pPr>
            <a:r>
              <a:rPr sz="3500" b="1" spc="-70" dirty="0">
                <a:solidFill>
                  <a:srgbClr val="002060"/>
                </a:solidFill>
                <a:latin typeface="Times New Roman" panose="02020603050405020304"/>
                <a:cs typeface="Times New Roman" panose="02020603050405020304"/>
              </a:rPr>
              <a:t>VIDYA</a:t>
            </a:r>
            <a:r>
              <a:rPr sz="3500" b="1" spc="-195" dirty="0">
                <a:solidFill>
                  <a:srgbClr val="002060"/>
                </a:solidFill>
                <a:latin typeface="Times New Roman" panose="02020603050405020304"/>
                <a:cs typeface="Times New Roman" panose="02020603050405020304"/>
              </a:rPr>
              <a:t> </a:t>
            </a:r>
            <a:r>
              <a:rPr sz="3500" b="1" dirty="0">
                <a:solidFill>
                  <a:srgbClr val="002060"/>
                </a:solidFill>
                <a:latin typeface="Times New Roman" panose="02020603050405020304"/>
                <a:cs typeface="Times New Roman" panose="02020603050405020304"/>
              </a:rPr>
              <a:t>JYOTHI</a:t>
            </a:r>
            <a:r>
              <a:rPr sz="3500" b="1" spc="-35" dirty="0">
                <a:solidFill>
                  <a:srgbClr val="002060"/>
                </a:solidFill>
                <a:latin typeface="Times New Roman" panose="02020603050405020304"/>
                <a:cs typeface="Times New Roman" panose="02020603050405020304"/>
              </a:rPr>
              <a:t> </a:t>
            </a:r>
            <a:r>
              <a:rPr sz="3500" b="1" dirty="0">
                <a:solidFill>
                  <a:srgbClr val="002060"/>
                </a:solidFill>
                <a:latin typeface="Times New Roman" panose="02020603050405020304"/>
                <a:cs typeface="Times New Roman" panose="02020603050405020304"/>
              </a:rPr>
              <a:t>INSTITUTE</a:t>
            </a:r>
            <a:r>
              <a:rPr sz="3500" b="1" spc="-20" dirty="0">
                <a:solidFill>
                  <a:srgbClr val="002060"/>
                </a:solidFill>
                <a:latin typeface="Times New Roman" panose="02020603050405020304"/>
                <a:cs typeface="Times New Roman" panose="02020603050405020304"/>
              </a:rPr>
              <a:t> </a:t>
            </a:r>
            <a:r>
              <a:rPr sz="3500" b="1" dirty="0">
                <a:solidFill>
                  <a:srgbClr val="002060"/>
                </a:solidFill>
                <a:latin typeface="Times New Roman" panose="02020603050405020304"/>
                <a:cs typeface="Times New Roman" panose="02020603050405020304"/>
              </a:rPr>
              <a:t>OF</a:t>
            </a:r>
            <a:r>
              <a:rPr sz="3500" b="1" spc="-210" dirty="0">
                <a:solidFill>
                  <a:srgbClr val="002060"/>
                </a:solidFill>
                <a:latin typeface="Times New Roman" panose="02020603050405020304"/>
                <a:cs typeface="Times New Roman" panose="02020603050405020304"/>
              </a:rPr>
              <a:t> </a:t>
            </a:r>
            <a:r>
              <a:rPr sz="3500" b="1" spc="-10" dirty="0">
                <a:solidFill>
                  <a:srgbClr val="002060"/>
                </a:solidFill>
                <a:latin typeface="Times New Roman" panose="02020603050405020304"/>
                <a:cs typeface="Times New Roman" panose="02020603050405020304"/>
              </a:rPr>
              <a:t>TECHNOLOGY</a:t>
            </a:r>
            <a:endParaRPr sz="3500" dirty="0">
              <a:latin typeface="Times New Roman" panose="02020603050405020304"/>
              <a:cs typeface="Times New Roman" panose="02020603050405020304"/>
            </a:endParaRPr>
          </a:p>
          <a:p>
            <a:pPr marL="295910" algn="ctr">
              <a:lnSpc>
                <a:spcPts val="4895"/>
              </a:lnSpc>
            </a:pPr>
            <a:r>
              <a:rPr sz="4300" b="1" spc="-10" dirty="0">
                <a:solidFill>
                  <a:srgbClr val="002060"/>
                </a:solidFill>
                <a:latin typeface="Times New Roman" panose="02020603050405020304"/>
                <a:cs typeface="Times New Roman" panose="02020603050405020304"/>
              </a:rPr>
              <a:t>(Autonomous)</a:t>
            </a:r>
            <a:endParaRPr sz="4300" dirty="0">
              <a:latin typeface="Times New Roman" panose="02020603050405020304"/>
              <a:cs typeface="Times New Roman" panose="02020603050405020304"/>
            </a:endParaRPr>
          </a:p>
        </p:txBody>
      </p:sp>
      <p:sp>
        <p:nvSpPr>
          <p:cNvPr id="7" name="object 7"/>
          <p:cNvSpPr txBox="1"/>
          <p:nvPr/>
        </p:nvSpPr>
        <p:spPr>
          <a:xfrm>
            <a:off x="911999" y="4524751"/>
            <a:ext cx="3062841" cy="1581395"/>
          </a:xfrm>
          <a:prstGeom prst="rect">
            <a:avLst/>
          </a:prstGeom>
        </p:spPr>
        <p:txBody>
          <a:bodyPr vert="horz" wrap="square" lIns="0" tIns="4445" rIns="0" bIns="0" rtlCol="0">
            <a:spAutoFit/>
          </a:bodyPr>
          <a:lstStyle/>
          <a:p>
            <a:pPr marL="12700" marR="5080">
              <a:lnSpc>
                <a:spcPct val="141000"/>
              </a:lnSpc>
              <a:spcBef>
                <a:spcPts val="35"/>
              </a:spcBef>
            </a:pPr>
            <a:r>
              <a:rPr sz="1800" dirty="0">
                <a:solidFill>
                  <a:srgbClr val="272525"/>
                </a:solidFill>
                <a:latin typeface="Times New Roman" panose="02020603050405020304"/>
                <a:cs typeface="Times New Roman" panose="02020603050405020304"/>
              </a:rPr>
              <a:t>Under</a:t>
            </a:r>
            <a:r>
              <a:rPr sz="1800" spc="-20" dirty="0">
                <a:solidFill>
                  <a:srgbClr val="272525"/>
                </a:solidFill>
                <a:latin typeface="Times New Roman" panose="02020603050405020304"/>
                <a:cs typeface="Times New Roman" panose="02020603050405020304"/>
              </a:rPr>
              <a:t> </a:t>
            </a:r>
            <a:r>
              <a:rPr sz="1800" dirty="0">
                <a:solidFill>
                  <a:srgbClr val="272525"/>
                </a:solidFill>
                <a:latin typeface="Times New Roman" panose="02020603050405020304"/>
                <a:cs typeface="Times New Roman" panose="02020603050405020304"/>
              </a:rPr>
              <a:t>the</a:t>
            </a:r>
            <a:r>
              <a:rPr sz="1800" spc="-20" dirty="0">
                <a:solidFill>
                  <a:srgbClr val="272525"/>
                </a:solidFill>
                <a:latin typeface="Times New Roman" panose="02020603050405020304"/>
                <a:cs typeface="Times New Roman" panose="02020603050405020304"/>
              </a:rPr>
              <a:t> </a:t>
            </a:r>
            <a:r>
              <a:rPr sz="1800" dirty="0">
                <a:solidFill>
                  <a:srgbClr val="272525"/>
                </a:solidFill>
                <a:latin typeface="Times New Roman" panose="02020603050405020304"/>
                <a:cs typeface="Times New Roman" panose="02020603050405020304"/>
              </a:rPr>
              <a:t>guidance</a:t>
            </a:r>
            <a:r>
              <a:rPr sz="1800" spc="-15" dirty="0">
                <a:solidFill>
                  <a:srgbClr val="272525"/>
                </a:solidFill>
                <a:latin typeface="Times New Roman" panose="02020603050405020304"/>
                <a:cs typeface="Times New Roman" panose="02020603050405020304"/>
              </a:rPr>
              <a:t> </a:t>
            </a:r>
            <a:r>
              <a:rPr sz="1800" spc="-25" dirty="0">
                <a:solidFill>
                  <a:srgbClr val="272525"/>
                </a:solidFill>
                <a:latin typeface="Times New Roman" panose="02020603050405020304"/>
                <a:cs typeface="Times New Roman" panose="02020603050405020304"/>
              </a:rPr>
              <a:t>of </a:t>
            </a:r>
            <a:endParaRPr lang="en-US" sz="1800" spc="-25" dirty="0">
              <a:solidFill>
                <a:srgbClr val="272525"/>
              </a:solidFill>
              <a:latin typeface="Times New Roman" panose="02020603050405020304"/>
              <a:cs typeface="Times New Roman" panose="02020603050405020304"/>
            </a:endParaRPr>
          </a:p>
          <a:p>
            <a:pPr marL="12700" marR="5080">
              <a:lnSpc>
                <a:spcPct val="141000"/>
              </a:lnSpc>
              <a:spcBef>
                <a:spcPts val="35"/>
              </a:spcBef>
            </a:pPr>
            <a:r>
              <a:rPr lang="en-IN" sz="1800" dirty="0"/>
              <a:t>Mrs. Qudsia Tahniyath</a:t>
            </a:r>
          </a:p>
          <a:p>
            <a:pPr marL="12700" marR="5080">
              <a:lnSpc>
                <a:spcPct val="141000"/>
              </a:lnSpc>
              <a:spcBef>
                <a:spcPts val="35"/>
              </a:spcBef>
            </a:pPr>
            <a:r>
              <a:rPr lang="en-US" sz="1800" spc="-10" dirty="0">
                <a:latin typeface="Times New Roman" panose="02020603050405020304"/>
                <a:cs typeface="Times New Roman" panose="02020603050405020304"/>
              </a:rPr>
              <a:t>Assistant</a:t>
            </a:r>
            <a:r>
              <a:rPr lang="en-US" sz="1800" b="1" spc="-10"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Professor</a:t>
            </a:r>
            <a:endParaRPr sz="1800" dirty="0">
              <a:latin typeface="Times New Roman" panose="02020603050405020304"/>
              <a:cs typeface="Times New Roman" panose="02020603050405020304"/>
            </a:endParaRPr>
          </a:p>
          <a:p>
            <a:pPr marL="12700">
              <a:lnSpc>
                <a:spcPct val="100000"/>
              </a:lnSpc>
              <a:spcBef>
                <a:spcPts val="1000"/>
              </a:spcBef>
            </a:pPr>
            <a:r>
              <a:rPr sz="1800" dirty="0">
                <a:latin typeface="Times New Roman" panose="02020603050405020304"/>
                <a:cs typeface="Times New Roman" panose="02020603050405020304"/>
              </a:rPr>
              <a:t>Department</a:t>
            </a:r>
            <a:r>
              <a:rPr sz="1800" spc="-40" dirty="0">
                <a:latin typeface="Times New Roman" panose="02020603050405020304"/>
                <a:cs typeface="Times New Roman" panose="02020603050405020304"/>
              </a:rPr>
              <a:t> </a:t>
            </a:r>
            <a:r>
              <a:rPr sz="1800" dirty="0">
                <a:latin typeface="Times New Roman" panose="02020603050405020304"/>
                <a:cs typeface="Times New Roman" panose="02020603050405020304"/>
              </a:rPr>
              <a:t>of</a:t>
            </a:r>
            <a:r>
              <a:rPr sz="1800" spc="-110" dirty="0">
                <a:latin typeface="Times New Roman" panose="02020603050405020304"/>
                <a:cs typeface="Times New Roman" panose="02020603050405020304"/>
              </a:rPr>
              <a:t> </a:t>
            </a:r>
            <a:r>
              <a:rPr lang="en-IN" sz="1800" spc="-35" dirty="0">
                <a:latin typeface="Times New Roman" panose="02020603050405020304"/>
                <a:cs typeface="Times New Roman" panose="02020603050405020304"/>
              </a:rPr>
              <a:t>IT</a:t>
            </a:r>
            <a:endParaRPr sz="1800" dirty="0">
              <a:latin typeface="Times New Roman" panose="02020603050405020304"/>
              <a:cs typeface="Times New Roman" panose="02020603050405020304"/>
            </a:endParaRPr>
          </a:p>
        </p:txBody>
      </p:sp>
      <p:sp>
        <p:nvSpPr>
          <p:cNvPr id="9" name="TextBox 8"/>
          <p:cNvSpPr txBox="1"/>
          <p:nvPr/>
        </p:nvSpPr>
        <p:spPr>
          <a:xfrm>
            <a:off x="7239000" y="4953000"/>
            <a:ext cx="4800600" cy="1200329"/>
          </a:xfrm>
          <a:prstGeom prst="rect">
            <a:avLst/>
          </a:prstGeom>
          <a:noFill/>
        </p:spPr>
        <p:txBody>
          <a:bodyPr wrap="square" rtlCol="0">
            <a:spAutoFit/>
          </a:bodyPr>
          <a:lstStyle/>
          <a:p>
            <a:r>
              <a:rPr lang="en-IN" sz="1800" dirty="0"/>
              <a:t>Deeksha Sandra      22911A12E2</a:t>
            </a:r>
          </a:p>
          <a:p>
            <a:r>
              <a:rPr lang="pt-BR" sz="1800" dirty="0"/>
              <a:t>G.R.Akshay Kumar  22911A12E7</a:t>
            </a:r>
          </a:p>
          <a:p>
            <a:r>
              <a:rPr lang="en-IN" sz="1800" dirty="0"/>
              <a:t>K. Sannihitha           22911A12J5</a:t>
            </a:r>
          </a:p>
          <a:p>
            <a:r>
              <a:rPr lang="en-IN" sz="1800" dirty="0"/>
              <a:t>Y.Tejaswini              22911A12K0</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5"/>
          <p:cNvSpPr txBox="1">
            <a:spLocks noGrp="1"/>
          </p:cNvSpPr>
          <p:nvPr>
            <p:ph type="title"/>
          </p:nvPr>
        </p:nvSpPr>
        <p:spPr>
          <a:xfrm>
            <a:off x="1631328" y="260350"/>
            <a:ext cx="9860902"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panose="02020603050405020304"/>
              <a:buNone/>
            </a:pPr>
            <a:r>
              <a:rPr lang="en-US" dirty="0"/>
              <a:t>Abstract:</a:t>
            </a:r>
          </a:p>
        </p:txBody>
      </p:sp>
      <p:sp>
        <p:nvSpPr>
          <p:cNvPr id="62" name="Google Shape;62;p5"/>
          <p:cNvSpPr txBox="1">
            <a:spLocks noGrp="1"/>
          </p:cNvSpPr>
          <p:nvPr>
            <p:ph idx="4294967295"/>
          </p:nvPr>
        </p:nvSpPr>
        <p:spPr>
          <a:xfrm>
            <a:off x="391887" y="1847850"/>
            <a:ext cx="10962014" cy="4351200"/>
          </a:xfrm>
          <a:prstGeom prst="rect">
            <a:avLst/>
          </a:prstGeom>
          <a:noFill/>
          <a:ln>
            <a:noFill/>
          </a:ln>
        </p:spPr>
        <p:txBody>
          <a:bodyPr spcFirstLastPara="1" wrap="square" lIns="91425" tIns="45700" rIns="91425" bIns="45700" anchor="t" anchorCtr="0">
            <a:noAutofit/>
          </a:bodyPr>
          <a:lstStyle/>
          <a:p>
            <a:pPr marL="177800" indent="0" algn="just">
              <a:lnSpc>
                <a:spcPct val="100000"/>
              </a:lnSpc>
              <a:spcBef>
                <a:spcPts val="0"/>
              </a:spcBef>
              <a:buSzPts val="2800"/>
              <a:buNone/>
            </a:pPr>
            <a:r>
              <a:rPr lang="en-US" sz="2400" dirty="0">
                <a:latin typeface="+mj-lt"/>
              </a:rPr>
              <a:t>This project develops a mobile application that provides personalized skincare recommendations based on individual skin types. It identifies whether a user’s skin is oily, dry, combination, normal, or sensitive through questionnaires or image-based analysis. Using this information, the app suggests suitable skincare products while avoiding ingredients that may cause irritation or allergies. It also offers skincare tips, product reviews, and customized routines to promote effective habits. By combining technology with dermatological knowledge, the application serves as a smart and user-friendly assistant. Ultimately, it helps users make informed decisions, leading to healthier skin and increased confidence.</a:t>
            </a:r>
          </a:p>
          <a:p>
            <a:pPr marL="177800" indent="0" algn="just">
              <a:lnSpc>
                <a:spcPct val="100000"/>
              </a:lnSpc>
              <a:spcBef>
                <a:spcPts val="0"/>
              </a:spcBef>
              <a:buSzPts val="2800"/>
              <a:buNone/>
            </a:pPr>
            <a:endParaRPr sz="2400" dirty="0">
              <a:latin typeface="+mj-lt"/>
            </a:endParaRPr>
          </a:p>
        </p:txBody>
      </p:sp>
      <p:sp>
        <p:nvSpPr>
          <p:cNvPr id="64" name="Google Shape;64;p5"/>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a:t>
            </a:fld>
            <a:endParaRPr lang="en-US"/>
          </a:p>
        </p:txBody>
      </p:sp>
    </p:spTree>
    <p:extLst>
      <p:ext uri="{BB962C8B-B14F-4D97-AF65-F5344CB8AC3E}">
        <p14:creationId xmlns:p14="http://schemas.microsoft.com/office/powerpoint/2010/main" val="1206288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CCDE2-90DA-05DB-9C33-25953F8A0ACB}"/>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AF0A099D-23C2-FE6F-9BDB-37762F7C2FE7}"/>
              </a:ext>
            </a:extLst>
          </p:cNvPr>
          <p:cNvSpPr>
            <a:spLocks noGrp="1"/>
          </p:cNvSpPr>
          <p:nvPr>
            <p:ph idx="1"/>
          </p:nvPr>
        </p:nvSpPr>
        <p:spPr/>
        <p:txBody>
          <a:bodyPr>
            <a:noAutofit/>
          </a:bodyPr>
          <a:lstStyle/>
          <a:p>
            <a:pPr>
              <a:lnSpc>
                <a:spcPct val="110000"/>
              </a:lnSpc>
            </a:pPr>
            <a:r>
              <a:rPr lang="en-US" sz="2400" dirty="0">
                <a:latin typeface="+mj-lt"/>
              </a:rPr>
              <a:t>Skincare is important for health, but access to professional dermatological advice is limited for many people </a:t>
            </a:r>
          </a:p>
          <a:p>
            <a:pPr>
              <a:lnSpc>
                <a:spcPct val="110000"/>
              </a:lnSpc>
            </a:pPr>
            <a:r>
              <a:rPr lang="en-US" sz="2400" dirty="0">
                <a:latin typeface="+mj-lt"/>
              </a:rPr>
              <a:t>Wide variation in skin types and conditions makes general skincare solutions ineffective </a:t>
            </a:r>
          </a:p>
          <a:p>
            <a:pPr>
              <a:lnSpc>
                <a:spcPct val="110000"/>
              </a:lnSpc>
            </a:pPr>
            <a:r>
              <a:rPr lang="en-US" sz="2400" dirty="0">
                <a:latin typeface="+mj-lt"/>
              </a:rPr>
              <a:t>Consumers face confusion due to numerous products and conflicting recommendations </a:t>
            </a:r>
          </a:p>
          <a:p>
            <a:pPr>
              <a:lnSpc>
                <a:spcPct val="110000"/>
              </a:lnSpc>
            </a:pPr>
            <a:r>
              <a:rPr lang="en-US" sz="2400" dirty="0">
                <a:latin typeface="+mj-lt"/>
              </a:rPr>
              <a:t>This project introduces a web-based platform using machine learning for personalized skincare guidance </a:t>
            </a:r>
          </a:p>
          <a:p>
            <a:pPr>
              <a:lnSpc>
                <a:spcPct val="110000"/>
              </a:lnSpc>
            </a:pPr>
            <a:r>
              <a:rPr lang="en-US" sz="2400" dirty="0">
                <a:latin typeface="+mj-lt"/>
              </a:rPr>
              <a:t>The system uses Flask, SQLite, Random Forest, and NLP to analyze skin type and user concerns for better recommendations </a:t>
            </a:r>
          </a:p>
          <a:p>
            <a:pPr marL="0" indent="0">
              <a:lnSpc>
                <a:spcPct val="110000"/>
              </a:lnSpc>
              <a:buNone/>
            </a:pPr>
            <a:endParaRPr lang="en-IN" sz="2400" dirty="0">
              <a:latin typeface="+mj-lt"/>
            </a:endParaRPr>
          </a:p>
        </p:txBody>
      </p:sp>
    </p:spTree>
    <p:extLst>
      <p:ext uri="{BB962C8B-B14F-4D97-AF65-F5344CB8AC3E}">
        <p14:creationId xmlns:p14="http://schemas.microsoft.com/office/powerpoint/2010/main" val="1014737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91179-A878-B6CB-1A2F-CE22C1E62B89}"/>
              </a:ext>
            </a:extLst>
          </p:cNvPr>
          <p:cNvSpPr>
            <a:spLocks noGrp="1"/>
          </p:cNvSpPr>
          <p:nvPr>
            <p:ph type="title"/>
          </p:nvPr>
        </p:nvSpPr>
        <p:spPr/>
        <p:txBody>
          <a:bodyPr/>
          <a:lstStyle/>
          <a:p>
            <a:r>
              <a:rPr lang="en-IN" dirty="0"/>
              <a:t>Objectives</a:t>
            </a:r>
          </a:p>
        </p:txBody>
      </p:sp>
      <p:sp>
        <p:nvSpPr>
          <p:cNvPr id="3" name="Content Placeholder 2">
            <a:extLst>
              <a:ext uri="{FF2B5EF4-FFF2-40B4-BE49-F238E27FC236}">
                <a16:creationId xmlns:a16="http://schemas.microsoft.com/office/drawing/2014/main" id="{5C38EF4B-792F-775C-D602-913BC502F9BB}"/>
              </a:ext>
            </a:extLst>
          </p:cNvPr>
          <p:cNvSpPr>
            <a:spLocks noGrp="1"/>
          </p:cNvSpPr>
          <p:nvPr>
            <p:ph idx="1"/>
          </p:nvPr>
        </p:nvSpPr>
        <p:spPr/>
        <p:txBody>
          <a:bodyPr>
            <a:normAutofit/>
          </a:bodyPr>
          <a:lstStyle/>
          <a:p>
            <a:pPr>
              <a:lnSpc>
                <a:spcPct val="100000"/>
              </a:lnSpc>
            </a:pPr>
            <a:r>
              <a:rPr lang="en-US" sz="2400" dirty="0">
                <a:latin typeface="+mj-lt"/>
              </a:rPr>
              <a:t>Develop a secure authentication system using Flask and SQLite to manage user accounts and store personalized data </a:t>
            </a:r>
          </a:p>
          <a:p>
            <a:pPr>
              <a:lnSpc>
                <a:spcPct val="100000"/>
              </a:lnSpc>
            </a:pPr>
            <a:r>
              <a:rPr lang="en-US" sz="2400" dirty="0">
                <a:latin typeface="+mj-lt"/>
              </a:rPr>
              <a:t>Build and train a Random Forest model to accurately classify different skin types from facial images </a:t>
            </a:r>
          </a:p>
          <a:p>
            <a:pPr>
              <a:lnSpc>
                <a:spcPct val="100000"/>
              </a:lnSpc>
            </a:pPr>
            <a:r>
              <a:rPr lang="en-US" sz="2400" dirty="0">
                <a:latin typeface="+mj-lt"/>
              </a:rPr>
              <a:t>Perform image preprocessing and feature extraction to improve model accuracy and reliability </a:t>
            </a:r>
          </a:p>
          <a:p>
            <a:pPr>
              <a:lnSpc>
                <a:spcPct val="100000"/>
              </a:lnSpc>
            </a:pPr>
            <a:r>
              <a:rPr lang="en-US" sz="2400" dirty="0">
                <a:latin typeface="+mj-lt"/>
              </a:rPr>
              <a:t>Integrate the trained model into the web application for seamless functionality </a:t>
            </a:r>
          </a:p>
          <a:p>
            <a:pPr>
              <a:lnSpc>
                <a:spcPct val="100000"/>
              </a:lnSpc>
            </a:pPr>
            <a:r>
              <a:rPr lang="en-US" sz="2400" dirty="0">
                <a:latin typeface="+mj-lt"/>
              </a:rPr>
              <a:t>Enable users to upload images and receive real-time, clear, and personalized skin type predictions </a:t>
            </a:r>
          </a:p>
          <a:p>
            <a:pPr algn="just">
              <a:lnSpc>
                <a:spcPct val="100000"/>
              </a:lnSpc>
            </a:pPr>
            <a:endParaRPr lang="en-US" sz="2200" dirty="0">
              <a:latin typeface="+mj-lt"/>
            </a:endParaRPr>
          </a:p>
        </p:txBody>
      </p:sp>
    </p:spTree>
    <p:extLst>
      <p:ext uri="{BB962C8B-B14F-4D97-AF65-F5344CB8AC3E}">
        <p14:creationId xmlns:p14="http://schemas.microsoft.com/office/powerpoint/2010/main" val="2761623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305B4-4D88-43D8-A275-F921C53C03A8}"/>
              </a:ext>
            </a:extLst>
          </p:cNvPr>
          <p:cNvSpPr>
            <a:spLocks noGrp="1"/>
          </p:cNvSpPr>
          <p:nvPr>
            <p:ph type="title"/>
          </p:nvPr>
        </p:nvSpPr>
        <p:spPr/>
        <p:txBody>
          <a:bodyPr/>
          <a:lstStyle/>
          <a:p>
            <a:r>
              <a:rPr lang="en-IN" b="1" dirty="0"/>
              <a:t>Literature</a:t>
            </a:r>
            <a:r>
              <a:rPr lang="en-IN" b="1" spc="-180" dirty="0"/>
              <a:t> </a:t>
            </a:r>
            <a:r>
              <a:rPr lang="en-IN" b="1" spc="-10" dirty="0"/>
              <a:t>Survey</a:t>
            </a:r>
            <a:endParaRPr lang="en-IN" dirty="0"/>
          </a:p>
        </p:txBody>
      </p:sp>
      <p:pic>
        <p:nvPicPr>
          <p:cNvPr id="4" name="Content Placeholder 3">
            <a:extLst>
              <a:ext uri="{FF2B5EF4-FFF2-40B4-BE49-F238E27FC236}">
                <a16:creationId xmlns:a16="http://schemas.microsoft.com/office/drawing/2014/main" id="{8EFF2C24-D7A5-4345-83F9-6655A4878E07}"/>
              </a:ext>
            </a:extLst>
          </p:cNvPr>
          <p:cNvPicPr>
            <a:picLocks noGrp="1" noChangeAspect="1"/>
          </p:cNvPicPr>
          <p:nvPr>
            <p:ph idx="1"/>
          </p:nvPr>
        </p:nvPicPr>
        <p:blipFill>
          <a:blip r:embed="rId2"/>
          <a:stretch>
            <a:fillRect/>
          </a:stretch>
        </p:blipFill>
        <p:spPr>
          <a:xfrm>
            <a:off x="478350" y="1825625"/>
            <a:ext cx="11235300" cy="4667250"/>
          </a:xfrm>
          <a:prstGeom prst="rect">
            <a:avLst/>
          </a:prstGeom>
        </p:spPr>
      </p:pic>
    </p:spTree>
    <p:extLst>
      <p:ext uri="{BB962C8B-B14F-4D97-AF65-F5344CB8AC3E}">
        <p14:creationId xmlns:p14="http://schemas.microsoft.com/office/powerpoint/2010/main" val="135829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572E2-889E-8F5B-4A27-135FA4BC6330}"/>
              </a:ext>
            </a:extLst>
          </p:cNvPr>
          <p:cNvSpPr>
            <a:spLocks noGrp="1"/>
          </p:cNvSpPr>
          <p:nvPr>
            <p:ph type="title"/>
          </p:nvPr>
        </p:nvSpPr>
        <p:spPr/>
        <p:txBody>
          <a:bodyPr/>
          <a:lstStyle/>
          <a:p>
            <a:r>
              <a:rPr lang="en-IN" b="1" dirty="0"/>
              <a:t>Literature</a:t>
            </a:r>
            <a:r>
              <a:rPr lang="en-IN" b="1" spc="-180" dirty="0"/>
              <a:t> </a:t>
            </a:r>
            <a:r>
              <a:rPr lang="en-IN" b="1" spc="-10" dirty="0"/>
              <a:t>Survey</a:t>
            </a:r>
            <a:endParaRPr lang="en-IN" dirty="0"/>
          </a:p>
        </p:txBody>
      </p:sp>
      <p:sp>
        <p:nvSpPr>
          <p:cNvPr id="3" name="Content Placeholder 2">
            <a:extLst>
              <a:ext uri="{FF2B5EF4-FFF2-40B4-BE49-F238E27FC236}">
                <a16:creationId xmlns:a16="http://schemas.microsoft.com/office/drawing/2014/main" id="{B767F50B-562B-4CFC-B3DD-3FAF972F5790}"/>
              </a:ext>
            </a:extLst>
          </p:cNvPr>
          <p:cNvSpPr>
            <a:spLocks noGrp="1"/>
          </p:cNvSpPr>
          <p:nvPr>
            <p:ph idx="1"/>
          </p:nvPr>
        </p:nvSpPr>
        <p:spPr>
          <a:xfrm>
            <a:off x="838200" y="1841953"/>
            <a:ext cx="10515600" cy="4351338"/>
          </a:xfrm>
        </p:spPr>
        <p:txBody>
          <a:bodyPr>
            <a:normAutofit/>
          </a:bodyPr>
          <a:lstStyle/>
          <a:p>
            <a:pPr marL="0" indent="0">
              <a:buNone/>
            </a:pPr>
            <a:endParaRPr lang="en-US" dirty="0"/>
          </a:p>
          <a:p>
            <a:pPr marL="0" indent="0">
              <a:buNone/>
            </a:pPr>
            <a:endParaRPr lang="en-IN" dirty="0"/>
          </a:p>
        </p:txBody>
      </p:sp>
      <p:pic>
        <p:nvPicPr>
          <p:cNvPr id="5" name="Picture 4">
            <a:extLst>
              <a:ext uri="{FF2B5EF4-FFF2-40B4-BE49-F238E27FC236}">
                <a16:creationId xmlns:a16="http://schemas.microsoft.com/office/drawing/2014/main" id="{7A7CCCFF-090D-4F23-8BD6-3D3DB66D5C06}"/>
              </a:ext>
            </a:extLst>
          </p:cNvPr>
          <p:cNvPicPr>
            <a:picLocks noChangeAspect="1"/>
          </p:cNvPicPr>
          <p:nvPr/>
        </p:nvPicPr>
        <p:blipFill>
          <a:blip r:embed="rId2"/>
          <a:stretch>
            <a:fillRect/>
          </a:stretch>
        </p:blipFill>
        <p:spPr>
          <a:xfrm>
            <a:off x="202746" y="1796538"/>
            <a:ext cx="11786508" cy="4688173"/>
          </a:xfrm>
          <a:prstGeom prst="rect">
            <a:avLst/>
          </a:prstGeom>
        </p:spPr>
      </p:pic>
    </p:spTree>
    <p:extLst>
      <p:ext uri="{BB962C8B-B14F-4D97-AF65-F5344CB8AC3E}">
        <p14:creationId xmlns:p14="http://schemas.microsoft.com/office/powerpoint/2010/main" val="1576882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B9A63-3DCD-4766-8C3F-AADEC01A18A4}"/>
              </a:ext>
            </a:extLst>
          </p:cNvPr>
          <p:cNvSpPr>
            <a:spLocks noGrp="1"/>
          </p:cNvSpPr>
          <p:nvPr>
            <p:ph type="title"/>
          </p:nvPr>
        </p:nvSpPr>
        <p:spPr/>
        <p:txBody>
          <a:bodyPr/>
          <a:lstStyle/>
          <a:p>
            <a:r>
              <a:rPr lang="en-US" b="1" dirty="0">
                <a:latin typeface="Times New Roman" pitchFamily="18" charset="0"/>
                <a:cs typeface="Times New Roman" pitchFamily="18" charset="0"/>
              </a:rPr>
              <a:t>System requirements</a:t>
            </a:r>
            <a:endParaRPr lang="en-IN" dirty="0"/>
          </a:p>
        </p:txBody>
      </p:sp>
      <p:sp>
        <p:nvSpPr>
          <p:cNvPr id="4" name="Content Placeholder 1">
            <a:extLst>
              <a:ext uri="{FF2B5EF4-FFF2-40B4-BE49-F238E27FC236}">
                <a16:creationId xmlns:a16="http://schemas.microsoft.com/office/drawing/2014/main" id="{E1E58610-ECEC-487E-8D33-201703C026D3}"/>
              </a:ext>
            </a:extLst>
          </p:cNvPr>
          <p:cNvSpPr>
            <a:spLocks noGrp="1"/>
          </p:cNvSpPr>
          <p:nvPr>
            <p:ph idx="1"/>
          </p:nvPr>
        </p:nvSpPr>
        <p:spPr>
          <a:xfrm>
            <a:off x="783771" y="1825625"/>
            <a:ext cx="10570029" cy="4754790"/>
          </a:xfrm>
        </p:spPr>
        <p:txBody>
          <a:bodyPr>
            <a:normAutofit fontScale="70000" lnSpcReduction="20000"/>
          </a:bodyPr>
          <a:lstStyle/>
          <a:p>
            <a:pPr marL="0" indent="0">
              <a:lnSpc>
                <a:spcPct val="150000"/>
              </a:lnSpc>
              <a:buNone/>
            </a:pPr>
            <a:r>
              <a:rPr lang="en-IN" sz="1800" b="1" dirty="0">
                <a:latin typeface="Times New Roman" panose="02020603050405020304" pitchFamily="18" charset="0"/>
                <a:cs typeface="Times New Roman" panose="02020603050405020304" pitchFamily="18" charset="0"/>
              </a:rPr>
              <a:t> HARDWARE REQUIREMENTS:</a:t>
            </a:r>
            <a:endParaRPr lang="en-IN" sz="1800" dirty="0">
              <a:latin typeface="Times New Roman" panose="02020603050405020304" pitchFamily="18" charset="0"/>
              <a:cs typeface="Times New Roman" panose="02020603050405020304" pitchFamily="18" charset="0"/>
            </a:endParaRPr>
          </a:p>
          <a:p>
            <a:pPr lvl="0">
              <a:lnSpc>
                <a:spcPct val="150000"/>
              </a:lnSpc>
            </a:pPr>
            <a:r>
              <a:rPr lang="en-US" sz="1800" b="1" dirty="0">
                <a:latin typeface="Times New Roman" panose="02020603050405020304" pitchFamily="18" charset="0"/>
                <a:cs typeface="Times New Roman" panose="02020603050405020304" pitchFamily="18" charset="0"/>
              </a:rPr>
              <a:t>System	                   :</a:t>
            </a:r>
            <a:r>
              <a:rPr lang="en-US" sz="1800" dirty="0">
                <a:latin typeface="Times New Roman" panose="02020603050405020304" pitchFamily="18" charset="0"/>
                <a:cs typeface="Times New Roman" panose="02020603050405020304" pitchFamily="18" charset="0"/>
              </a:rPr>
              <a:t> Pentium IV 2.4 GHz (or equivalent) </a:t>
            </a:r>
            <a:endParaRPr lang="en-IN" sz="1800" dirty="0">
              <a:latin typeface="Times New Roman" panose="02020603050405020304" pitchFamily="18" charset="0"/>
              <a:cs typeface="Times New Roman" panose="02020603050405020304" pitchFamily="18" charset="0"/>
            </a:endParaRPr>
          </a:p>
          <a:p>
            <a:pPr lvl="0">
              <a:lnSpc>
                <a:spcPct val="150000"/>
              </a:lnSpc>
            </a:pPr>
            <a:r>
              <a:rPr lang="en-US" sz="1800" b="1" dirty="0">
                <a:latin typeface="Times New Roman" panose="02020603050405020304" pitchFamily="18" charset="0"/>
                <a:cs typeface="Times New Roman" panose="02020603050405020304" pitchFamily="18" charset="0"/>
              </a:rPr>
              <a:t>Hard Disk	:</a:t>
            </a:r>
            <a:r>
              <a:rPr lang="en-US" sz="1800" dirty="0">
                <a:latin typeface="Times New Roman" panose="02020603050405020304" pitchFamily="18" charset="0"/>
                <a:cs typeface="Times New Roman" panose="02020603050405020304" pitchFamily="18" charset="0"/>
              </a:rPr>
              <a:t> 500 GB </a:t>
            </a:r>
            <a:endParaRPr lang="en-IN" sz="1800" dirty="0">
              <a:latin typeface="Times New Roman" panose="02020603050405020304" pitchFamily="18" charset="0"/>
              <a:cs typeface="Times New Roman" panose="02020603050405020304" pitchFamily="18" charset="0"/>
            </a:endParaRPr>
          </a:p>
          <a:p>
            <a:pPr lvl="0">
              <a:lnSpc>
                <a:spcPct val="150000"/>
              </a:lnSpc>
            </a:pPr>
            <a:r>
              <a:rPr lang="en-US" sz="1800" b="1" dirty="0">
                <a:latin typeface="Times New Roman" panose="02020603050405020304" pitchFamily="18" charset="0"/>
                <a:cs typeface="Times New Roman" panose="02020603050405020304" pitchFamily="18" charset="0"/>
              </a:rPr>
              <a:t>Mouse		:</a:t>
            </a:r>
            <a:r>
              <a:rPr lang="en-US" sz="1800" dirty="0">
                <a:latin typeface="Times New Roman" panose="02020603050405020304" pitchFamily="18" charset="0"/>
                <a:cs typeface="Times New Roman" panose="02020603050405020304" pitchFamily="18" charset="0"/>
              </a:rPr>
              <a:t> Logitech (or similar) </a:t>
            </a:r>
            <a:endParaRPr lang="en-IN" sz="1800" dirty="0">
              <a:latin typeface="Times New Roman" panose="02020603050405020304" pitchFamily="18" charset="0"/>
              <a:cs typeface="Times New Roman" panose="02020603050405020304" pitchFamily="18" charset="0"/>
            </a:endParaRPr>
          </a:p>
          <a:p>
            <a:pPr lvl="0">
              <a:lnSpc>
                <a:spcPct val="150000"/>
              </a:lnSpc>
            </a:pPr>
            <a:r>
              <a:rPr lang="en-US" sz="1800" b="1" dirty="0">
                <a:latin typeface="Times New Roman" panose="02020603050405020304" pitchFamily="18" charset="0"/>
                <a:cs typeface="Times New Roman" panose="02020603050405020304" pitchFamily="18" charset="0"/>
              </a:rPr>
              <a:t>Keyboard	:</a:t>
            </a:r>
            <a:r>
              <a:rPr lang="en-US" sz="1800" dirty="0">
                <a:latin typeface="Times New Roman" panose="02020603050405020304" pitchFamily="18" charset="0"/>
                <a:cs typeface="Times New Roman" panose="02020603050405020304" pitchFamily="18" charset="0"/>
              </a:rPr>
              <a:t> 110 keys enhanced </a:t>
            </a:r>
            <a:endParaRPr lang="en-IN" sz="1800" dirty="0">
              <a:latin typeface="Times New Roman" panose="02020603050405020304" pitchFamily="18" charset="0"/>
              <a:cs typeface="Times New Roman" panose="02020603050405020304" pitchFamily="18" charset="0"/>
            </a:endParaRPr>
          </a:p>
          <a:p>
            <a:pPr lvl="0">
              <a:lnSpc>
                <a:spcPct val="150000"/>
              </a:lnSpc>
            </a:pPr>
            <a:r>
              <a:rPr lang="en-US" sz="1800" b="1" dirty="0">
                <a:latin typeface="Times New Roman" panose="02020603050405020304" pitchFamily="18" charset="0"/>
                <a:cs typeface="Times New Roman" panose="02020603050405020304" pitchFamily="18" charset="0"/>
              </a:rPr>
              <a:t>RAM		:</a:t>
            </a:r>
            <a:r>
              <a:rPr lang="en-US" sz="1800" dirty="0">
                <a:latin typeface="Times New Roman" panose="02020603050405020304" pitchFamily="18" charset="0"/>
                <a:cs typeface="Times New Roman" panose="02020603050405020304" pitchFamily="18" charset="0"/>
              </a:rPr>
              <a:t> 8 GB</a:t>
            </a:r>
            <a:endParaRPr lang="en-IN" sz="1800" dirty="0">
              <a:latin typeface="Times New Roman" panose="02020603050405020304" pitchFamily="18" charset="0"/>
              <a:cs typeface="Times New Roman" panose="02020603050405020304" pitchFamily="18" charset="0"/>
            </a:endParaRPr>
          </a:p>
          <a:p>
            <a:pPr marL="0" indent="0">
              <a:lnSpc>
                <a:spcPct val="150000"/>
              </a:lnSpc>
              <a:buNone/>
            </a:pPr>
            <a:r>
              <a:rPr lang="en-IN" sz="1800" b="1" dirty="0">
                <a:latin typeface="Times New Roman" panose="02020603050405020304" pitchFamily="18" charset="0"/>
                <a:cs typeface="Times New Roman" panose="02020603050405020304" pitchFamily="18" charset="0"/>
              </a:rPr>
              <a:t> SOFTWARE REQUIREMENTS:</a:t>
            </a:r>
            <a:endParaRPr lang="en-IN" sz="1800" dirty="0">
              <a:latin typeface="Times New Roman" panose="02020603050405020304" pitchFamily="18" charset="0"/>
              <a:cs typeface="Times New Roman" panose="02020603050405020304" pitchFamily="18" charset="0"/>
            </a:endParaRPr>
          </a:p>
          <a:p>
            <a:pPr lvl="0">
              <a:lnSpc>
                <a:spcPct val="150000"/>
              </a:lnSpc>
            </a:pPr>
            <a:r>
              <a:rPr lang="en-US" sz="1800" dirty="0">
                <a:latin typeface="Times New Roman" panose="02020603050405020304" pitchFamily="18" charset="0"/>
                <a:cs typeface="Times New Roman" panose="02020603050405020304" pitchFamily="18" charset="0"/>
              </a:rPr>
              <a:t>O/S                                       : Windows 10,11.</a:t>
            </a:r>
            <a:endParaRPr lang="en-IN" sz="1800" dirty="0">
              <a:latin typeface="Times New Roman" panose="02020603050405020304" pitchFamily="18" charset="0"/>
              <a:cs typeface="Times New Roman" panose="02020603050405020304" pitchFamily="18" charset="0"/>
            </a:endParaRPr>
          </a:p>
          <a:p>
            <a:pPr lvl="0">
              <a:lnSpc>
                <a:spcPct val="150000"/>
              </a:lnSpc>
            </a:pPr>
            <a:r>
              <a:rPr lang="en-US" sz="1800" dirty="0">
                <a:latin typeface="Times New Roman" panose="02020603050405020304" pitchFamily="18" charset="0"/>
                <a:cs typeface="Times New Roman" panose="02020603050405020304" pitchFamily="18" charset="0"/>
              </a:rPr>
              <a:t>Language	            : Python</a:t>
            </a:r>
            <a:endParaRPr lang="en-IN" sz="1800" dirty="0">
              <a:latin typeface="Times New Roman" panose="02020603050405020304" pitchFamily="18" charset="0"/>
              <a:cs typeface="Times New Roman" panose="02020603050405020304" pitchFamily="18" charset="0"/>
            </a:endParaRPr>
          </a:p>
          <a:p>
            <a:pPr lvl="0">
              <a:lnSpc>
                <a:spcPct val="150000"/>
              </a:lnSpc>
            </a:pPr>
            <a:r>
              <a:rPr lang="en-US" sz="1800" dirty="0">
                <a:latin typeface="Times New Roman" panose="02020603050405020304" pitchFamily="18" charset="0"/>
                <a:cs typeface="Times New Roman" panose="02020603050405020304" pitchFamily="18" charset="0"/>
              </a:rPr>
              <a:t>Front End            	            : HTML,CSS</a:t>
            </a:r>
          </a:p>
          <a:p>
            <a:pPr lvl="0">
              <a:lnSpc>
                <a:spcPct val="150000"/>
              </a:lnSpc>
            </a:pPr>
            <a:r>
              <a:rPr lang="en-US" sz="1800" dirty="0">
                <a:latin typeface="Times New Roman" panose="02020603050405020304" pitchFamily="18" charset="0"/>
                <a:cs typeface="Times New Roman" panose="02020603050405020304" pitchFamily="18" charset="0"/>
              </a:rPr>
              <a:t>Framework                           : Flask</a:t>
            </a:r>
          </a:p>
          <a:p>
            <a:pPr lvl="0">
              <a:lnSpc>
                <a:spcPct val="150000"/>
              </a:lnSpc>
            </a:pPr>
            <a:r>
              <a:rPr lang="en-US" sz="1800" dirty="0">
                <a:latin typeface="Times New Roman" panose="02020603050405020304" pitchFamily="18" charset="0"/>
                <a:cs typeface="Times New Roman" panose="02020603050405020304" pitchFamily="18" charset="0"/>
              </a:rPr>
              <a:t>Software Used                       : Anaconda Navigator – Spyder</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2741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DAB5B-5BF3-44C8-BBA7-889BB5456A1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Architecture diagram</a:t>
            </a:r>
            <a:endParaRPr lang="en-IN" dirty="0"/>
          </a:p>
        </p:txBody>
      </p:sp>
      <p:pic>
        <p:nvPicPr>
          <p:cNvPr id="4" name="Content Placeholder 3" descr="C:\Users\egc02177\Pictures\Screenshots\Screenshot (513).png">
            <a:extLst>
              <a:ext uri="{FF2B5EF4-FFF2-40B4-BE49-F238E27FC236}">
                <a16:creationId xmlns:a16="http://schemas.microsoft.com/office/drawing/2014/main" id="{BAC03ECE-B374-42FF-B4F7-508DD557AFCD}"/>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58995" y="1876922"/>
            <a:ext cx="6274009" cy="4248743"/>
          </a:xfrm>
          <a:prstGeom prst="rect">
            <a:avLst/>
          </a:prstGeom>
          <a:noFill/>
          <a:ln>
            <a:noFill/>
          </a:ln>
        </p:spPr>
      </p:pic>
    </p:spTree>
    <p:extLst>
      <p:ext uri="{BB962C8B-B14F-4D97-AF65-F5344CB8AC3E}">
        <p14:creationId xmlns:p14="http://schemas.microsoft.com/office/powerpoint/2010/main" val="2222269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DAB5B-5BF3-44C8-BBA7-889BB5456A1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F</a:t>
            </a:r>
            <a:r>
              <a:rPr lang="en-IN" b="1" dirty="0">
                <a:latin typeface="Times New Roman" panose="02020603050405020304" pitchFamily="18" charset="0"/>
                <a:cs typeface="Times New Roman" panose="02020603050405020304" pitchFamily="18" charset="0"/>
              </a:rPr>
              <a:t>LOW DIAGRAM </a:t>
            </a:r>
            <a:endParaRPr lang="en-IN" dirty="0"/>
          </a:p>
        </p:txBody>
      </p:sp>
      <p:pic>
        <p:nvPicPr>
          <p:cNvPr id="4" name="Content Placeholder 3">
            <a:extLst>
              <a:ext uri="{FF2B5EF4-FFF2-40B4-BE49-F238E27FC236}">
                <a16:creationId xmlns:a16="http://schemas.microsoft.com/office/drawing/2014/main" id="{5ED2F862-91FC-4B11-AAAB-77D33EB79E92}"/>
              </a:ext>
            </a:extLst>
          </p:cNvPr>
          <p:cNvPicPr>
            <a:picLocks noGrp="1" noChangeAspect="1"/>
          </p:cNvPicPr>
          <p:nvPr>
            <p:ph idx="1"/>
          </p:nvPr>
        </p:nvPicPr>
        <p:blipFill>
          <a:blip r:embed="rId2"/>
          <a:stretch>
            <a:fillRect/>
          </a:stretch>
        </p:blipFill>
        <p:spPr>
          <a:xfrm>
            <a:off x="1888623" y="1890939"/>
            <a:ext cx="8414753" cy="4351338"/>
          </a:xfrm>
          <a:prstGeom prst="rect">
            <a:avLst/>
          </a:prstGeom>
        </p:spPr>
      </p:pic>
    </p:spTree>
    <p:extLst>
      <p:ext uri="{BB962C8B-B14F-4D97-AF65-F5344CB8AC3E}">
        <p14:creationId xmlns:p14="http://schemas.microsoft.com/office/powerpoint/2010/main" val="1687946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DAB5B-5BF3-44C8-BBA7-889BB5456A12}"/>
              </a:ext>
            </a:extLst>
          </p:cNvPr>
          <p:cNvSpPr>
            <a:spLocks noGrp="1"/>
          </p:cNvSpPr>
          <p:nvPr>
            <p:ph type="title"/>
          </p:nvPr>
        </p:nvSpPr>
        <p:spPr/>
        <p:txBody>
          <a:bodyPr/>
          <a:lstStyle/>
          <a:p>
            <a:r>
              <a:rPr lang="en-US" dirty="0"/>
              <a:t>Application </a:t>
            </a:r>
            <a:r>
              <a:rPr lang="en-US" dirty="0" err="1"/>
              <a:t>Screenshorts</a:t>
            </a:r>
            <a:r>
              <a:rPr lang="en-US" dirty="0"/>
              <a:t> </a:t>
            </a:r>
            <a:endParaRPr lang="en-IN" dirty="0"/>
          </a:p>
        </p:txBody>
      </p:sp>
      <p:pic>
        <p:nvPicPr>
          <p:cNvPr id="4" name="Content Placeholder 3">
            <a:extLst>
              <a:ext uri="{FF2B5EF4-FFF2-40B4-BE49-F238E27FC236}">
                <a16:creationId xmlns:a16="http://schemas.microsoft.com/office/drawing/2014/main" id="{4BFDC3F6-BC8A-4DBF-84D2-2D6ED9076435}"/>
              </a:ext>
            </a:extLst>
          </p:cNvPr>
          <p:cNvPicPr>
            <a:picLocks noGrp="1" noChangeAspect="1"/>
          </p:cNvPicPr>
          <p:nvPr>
            <p:ph idx="1"/>
          </p:nvPr>
        </p:nvPicPr>
        <p:blipFill>
          <a:blip r:embed="rId2"/>
          <a:stretch>
            <a:fillRect/>
          </a:stretch>
        </p:blipFill>
        <p:spPr>
          <a:xfrm>
            <a:off x="1398299" y="1882775"/>
            <a:ext cx="9141795" cy="4030734"/>
          </a:xfrm>
          <a:prstGeom prst="rect">
            <a:avLst/>
          </a:prstGeom>
        </p:spPr>
      </p:pic>
    </p:spTree>
    <p:extLst>
      <p:ext uri="{BB962C8B-B14F-4D97-AF65-F5344CB8AC3E}">
        <p14:creationId xmlns:p14="http://schemas.microsoft.com/office/powerpoint/2010/main" val="4005267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DAB5B-5BF3-44C8-BBA7-889BB5456A12}"/>
              </a:ext>
            </a:extLst>
          </p:cNvPr>
          <p:cNvSpPr>
            <a:spLocks noGrp="1"/>
          </p:cNvSpPr>
          <p:nvPr>
            <p:ph type="title"/>
          </p:nvPr>
        </p:nvSpPr>
        <p:spPr>
          <a:xfrm>
            <a:off x="2330782" y="5763985"/>
            <a:ext cx="7173685" cy="792616"/>
          </a:xfrm>
        </p:spPr>
        <p:txBody>
          <a:bodyPr>
            <a:normAutofit/>
          </a:bodyPr>
          <a:lstStyle/>
          <a:p>
            <a:pPr algn="ctr"/>
            <a:r>
              <a:rPr lang="en-IN" sz="2000" dirty="0">
                <a:latin typeface="Times New Roman" panose="02020603050405020304" pitchFamily="18" charset="0"/>
                <a:cs typeface="Times New Roman" panose="02020603050405020304" pitchFamily="18" charset="0"/>
              </a:rPr>
              <a:t>Register Page</a:t>
            </a:r>
            <a:br>
              <a:rPr lang="en-IN" sz="2000" dirty="0">
                <a:latin typeface="Times New Roman" panose="02020603050405020304" pitchFamily="18" charset="0"/>
                <a:cs typeface="Times New Roman" panose="02020603050405020304" pitchFamily="18" charset="0"/>
              </a:rPr>
            </a:br>
            <a:endParaRPr lang="en-IN" sz="2000" dirty="0"/>
          </a:p>
        </p:txBody>
      </p:sp>
      <p:pic>
        <p:nvPicPr>
          <p:cNvPr id="4" name="Content Placeholder 3">
            <a:extLst>
              <a:ext uri="{FF2B5EF4-FFF2-40B4-BE49-F238E27FC236}">
                <a16:creationId xmlns:a16="http://schemas.microsoft.com/office/drawing/2014/main" id="{B55F5F89-EDBE-4EF7-ADCA-22938D3E8186}"/>
              </a:ext>
            </a:extLst>
          </p:cNvPr>
          <p:cNvPicPr>
            <a:picLocks noGrp="1" noChangeAspect="1"/>
          </p:cNvPicPr>
          <p:nvPr>
            <p:ph idx="1"/>
          </p:nvPr>
        </p:nvPicPr>
        <p:blipFill>
          <a:blip r:embed="rId2"/>
          <a:stretch>
            <a:fillRect/>
          </a:stretch>
        </p:blipFill>
        <p:spPr>
          <a:xfrm>
            <a:off x="2217722" y="1915432"/>
            <a:ext cx="7399807" cy="3734536"/>
          </a:xfrm>
          <a:prstGeom prst="rect">
            <a:avLst/>
          </a:prstGeom>
        </p:spPr>
      </p:pic>
    </p:spTree>
    <p:extLst>
      <p:ext uri="{BB962C8B-B14F-4D97-AF65-F5344CB8AC3E}">
        <p14:creationId xmlns:p14="http://schemas.microsoft.com/office/powerpoint/2010/main" val="9079032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DAB5B-5BF3-44C8-BBA7-889BB5456A12}"/>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Login Page</a:t>
            </a:r>
            <a:br>
              <a:rPr lang="en-IN" b="1" dirty="0">
                <a:latin typeface="Times New Roman" panose="02020603050405020304" pitchFamily="18" charset="0"/>
                <a:cs typeface="Times New Roman" panose="02020603050405020304" pitchFamily="18" charset="0"/>
              </a:rPr>
            </a:br>
            <a:endParaRPr lang="en-IN" dirty="0"/>
          </a:p>
        </p:txBody>
      </p:sp>
      <p:pic>
        <p:nvPicPr>
          <p:cNvPr id="5" name="Picture 4">
            <a:extLst>
              <a:ext uri="{FF2B5EF4-FFF2-40B4-BE49-F238E27FC236}">
                <a16:creationId xmlns:a16="http://schemas.microsoft.com/office/drawing/2014/main" id="{EA9B0C1F-5A43-49B5-87EB-AC6079334516}"/>
              </a:ext>
            </a:extLst>
          </p:cNvPr>
          <p:cNvPicPr>
            <a:picLocks noChangeAspect="1"/>
          </p:cNvPicPr>
          <p:nvPr/>
        </p:nvPicPr>
        <p:blipFill>
          <a:blip r:embed="rId2"/>
          <a:stretch>
            <a:fillRect/>
          </a:stretch>
        </p:blipFill>
        <p:spPr>
          <a:xfrm>
            <a:off x="1985669" y="1830797"/>
            <a:ext cx="8544553" cy="4080120"/>
          </a:xfrm>
          <a:prstGeom prst="rect">
            <a:avLst/>
          </a:prstGeom>
        </p:spPr>
      </p:pic>
    </p:spTree>
    <p:extLst>
      <p:ext uri="{BB962C8B-B14F-4D97-AF65-F5344CB8AC3E}">
        <p14:creationId xmlns:p14="http://schemas.microsoft.com/office/powerpoint/2010/main" val="280519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1283E-256F-4A95-9FE6-D1EF6E149571}"/>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Data explore Page</a:t>
            </a:r>
            <a:br>
              <a:rPr lang="en-IN" b="1" dirty="0">
                <a:latin typeface="Times New Roman" panose="02020603050405020304" pitchFamily="18" charset="0"/>
                <a:cs typeface="Times New Roman" panose="02020603050405020304" pitchFamily="18" charset="0"/>
              </a:rPr>
            </a:br>
            <a:endParaRPr lang="en-IN" dirty="0"/>
          </a:p>
        </p:txBody>
      </p:sp>
      <p:pic>
        <p:nvPicPr>
          <p:cNvPr id="5" name="Content Placeholder 4">
            <a:extLst>
              <a:ext uri="{FF2B5EF4-FFF2-40B4-BE49-F238E27FC236}">
                <a16:creationId xmlns:a16="http://schemas.microsoft.com/office/drawing/2014/main" id="{F301090B-2A10-4E30-AA0A-2BD58A19372C}"/>
              </a:ext>
            </a:extLst>
          </p:cNvPr>
          <p:cNvPicPr>
            <a:picLocks noGrp="1" noChangeAspect="1"/>
          </p:cNvPicPr>
          <p:nvPr>
            <p:ph idx="1"/>
          </p:nvPr>
        </p:nvPicPr>
        <p:blipFill>
          <a:blip r:embed="rId2"/>
          <a:stretch>
            <a:fillRect/>
          </a:stretch>
        </p:blipFill>
        <p:spPr>
          <a:xfrm>
            <a:off x="2947731" y="1848985"/>
            <a:ext cx="6063240" cy="2966811"/>
          </a:xfrm>
          <a:prstGeom prst="rect">
            <a:avLst/>
          </a:prstGeom>
        </p:spPr>
      </p:pic>
      <p:pic>
        <p:nvPicPr>
          <p:cNvPr id="6" name="Picture 5">
            <a:extLst>
              <a:ext uri="{FF2B5EF4-FFF2-40B4-BE49-F238E27FC236}">
                <a16:creationId xmlns:a16="http://schemas.microsoft.com/office/drawing/2014/main" id="{14BF8D0E-4348-4A99-99B8-C6115D6DC047}"/>
              </a:ext>
            </a:extLst>
          </p:cNvPr>
          <p:cNvPicPr>
            <a:picLocks noChangeAspect="1"/>
          </p:cNvPicPr>
          <p:nvPr/>
        </p:nvPicPr>
        <p:blipFill rotWithShape="1">
          <a:blip r:embed="rId3"/>
          <a:srcRect l="1432" t="22995" r="9070" b="12866"/>
          <a:stretch/>
        </p:blipFill>
        <p:spPr>
          <a:xfrm>
            <a:off x="2947731" y="4815796"/>
            <a:ext cx="6063240" cy="1325564"/>
          </a:xfrm>
          <a:prstGeom prst="rect">
            <a:avLst/>
          </a:prstGeom>
        </p:spPr>
      </p:pic>
    </p:spTree>
    <p:extLst>
      <p:ext uri="{BB962C8B-B14F-4D97-AF65-F5344CB8AC3E}">
        <p14:creationId xmlns:p14="http://schemas.microsoft.com/office/powerpoint/2010/main" val="2310692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1283E-256F-4A95-9FE6-D1EF6E149571}"/>
              </a:ext>
            </a:extLst>
          </p:cNvPr>
          <p:cNvSpPr>
            <a:spLocks noGrp="1"/>
          </p:cNvSpPr>
          <p:nvPr>
            <p:ph type="title"/>
          </p:nvPr>
        </p:nvSpPr>
        <p:spPr/>
        <p:txBody>
          <a:bodyPr/>
          <a:lstStyle/>
          <a:p>
            <a:r>
              <a:rPr lang="en-GB" b="1" dirty="0">
                <a:latin typeface="Times New Roman" panose="02020603050405020304" pitchFamily="18" charset="0"/>
                <a:cs typeface="Times New Roman" panose="02020603050405020304" pitchFamily="18" charset="0"/>
              </a:rPr>
              <a:t>Category</a:t>
            </a:r>
            <a:endParaRPr lang="en-IN" dirty="0"/>
          </a:p>
        </p:txBody>
      </p:sp>
      <p:pic>
        <p:nvPicPr>
          <p:cNvPr id="4" name="Content Placeholder 3">
            <a:extLst>
              <a:ext uri="{FF2B5EF4-FFF2-40B4-BE49-F238E27FC236}">
                <a16:creationId xmlns:a16="http://schemas.microsoft.com/office/drawing/2014/main" id="{134D340C-B816-4805-BAA1-9086E93CBCF7}"/>
              </a:ext>
            </a:extLst>
          </p:cNvPr>
          <p:cNvPicPr>
            <a:picLocks noGrp="1" noChangeAspect="1"/>
          </p:cNvPicPr>
          <p:nvPr>
            <p:ph idx="1"/>
          </p:nvPr>
        </p:nvPicPr>
        <p:blipFill>
          <a:blip r:embed="rId2"/>
          <a:stretch>
            <a:fillRect/>
          </a:stretch>
        </p:blipFill>
        <p:spPr>
          <a:xfrm>
            <a:off x="256402" y="2266496"/>
            <a:ext cx="5553594" cy="3301546"/>
          </a:xfrm>
          <a:prstGeom prst="rect">
            <a:avLst/>
          </a:prstGeom>
        </p:spPr>
      </p:pic>
      <p:pic>
        <p:nvPicPr>
          <p:cNvPr id="5" name="Picture 4">
            <a:extLst>
              <a:ext uri="{FF2B5EF4-FFF2-40B4-BE49-F238E27FC236}">
                <a16:creationId xmlns:a16="http://schemas.microsoft.com/office/drawing/2014/main" id="{460EA5DB-06EF-4DC2-9AA0-D2055E03529E}"/>
              </a:ext>
            </a:extLst>
          </p:cNvPr>
          <p:cNvPicPr>
            <a:picLocks noChangeAspect="1"/>
          </p:cNvPicPr>
          <p:nvPr/>
        </p:nvPicPr>
        <p:blipFill>
          <a:blip r:embed="rId3"/>
          <a:stretch>
            <a:fillRect/>
          </a:stretch>
        </p:blipFill>
        <p:spPr>
          <a:xfrm>
            <a:off x="5867146" y="2415131"/>
            <a:ext cx="6154912" cy="3036932"/>
          </a:xfrm>
          <a:prstGeom prst="rect">
            <a:avLst/>
          </a:prstGeom>
        </p:spPr>
      </p:pic>
    </p:spTree>
    <p:extLst>
      <p:ext uri="{BB962C8B-B14F-4D97-AF65-F5344CB8AC3E}">
        <p14:creationId xmlns:p14="http://schemas.microsoft.com/office/powerpoint/2010/main" val="3730202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1283E-256F-4A95-9FE6-D1EF6E149571}"/>
              </a:ext>
            </a:extLst>
          </p:cNvPr>
          <p:cNvSpPr>
            <a:spLocks noGrp="1"/>
          </p:cNvSpPr>
          <p:nvPr>
            <p:ph type="title"/>
          </p:nvPr>
        </p:nvSpPr>
        <p:spPr/>
        <p:txBody>
          <a:bodyPr/>
          <a:lstStyle/>
          <a:p>
            <a:r>
              <a:rPr lang="en-GB" b="1" dirty="0" err="1">
                <a:latin typeface="Times New Roman" panose="02020603050405020304" pitchFamily="18" charset="0"/>
                <a:cs typeface="Times New Roman" panose="02020603050405020304" pitchFamily="18" charset="0"/>
              </a:rPr>
              <a:t>Suppiler</a:t>
            </a:r>
            <a:endParaRPr lang="en-IN" dirty="0"/>
          </a:p>
        </p:txBody>
      </p:sp>
      <p:pic>
        <p:nvPicPr>
          <p:cNvPr id="7" name="Content Placeholder 6">
            <a:extLst>
              <a:ext uri="{FF2B5EF4-FFF2-40B4-BE49-F238E27FC236}">
                <a16:creationId xmlns:a16="http://schemas.microsoft.com/office/drawing/2014/main" id="{2B9F1513-973C-4ECF-978D-9DA570B25E2E}"/>
              </a:ext>
            </a:extLst>
          </p:cNvPr>
          <p:cNvPicPr>
            <a:picLocks noGrp="1" noChangeAspect="1"/>
          </p:cNvPicPr>
          <p:nvPr>
            <p:ph idx="1"/>
          </p:nvPr>
        </p:nvPicPr>
        <p:blipFill>
          <a:blip r:embed="rId2"/>
          <a:stretch>
            <a:fillRect/>
          </a:stretch>
        </p:blipFill>
        <p:spPr>
          <a:xfrm>
            <a:off x="3578228" y="1732005"/>
            <a:ext cx="6003471" cy="2178830"/>
          </a:xfrm>
          <a:prstGeom prst="rect">
            <a:avLst/>
          </a:prstGeom>
        </p:spPr>
      </p:pic>
      <p:pic>
        <p:nvPicPr>
          <p:cNvPr id="8" name="Picture 7">
            <a:extLst>
              <a:ext uri="{FF2B5EF4-FFF2-40B4-BE49-F238E27FC236}">
                <a16:creationId xmlns:a16="http://schemas.microsoft.com/office/drawing/2014/main" id="{637357AB-E9D3-4545-A6FB-8DE9D9958D41}"/>
              </a:ext>
            </a:extLst>
          </p:cNvPr>
          <p:cNvPicPr>
            <a:picLocks noChangeAspect="1"/>
          </p:cNvPicPr>
          <p:nvPr/>
        </p:nvPicPr>
        <p:blipFill>
          <a:blip r:embed="rId3"/>
          <a:stretch>
            <a:fillRect/>
          </a:stretch>
        </p:blipFill>
        <p:spPr>
          <a:xfrm>
            <a:off x="2952750" y="3952152"/>
            <a:ext cx="7254429" cy="2817254"/>
          </a:xfrm>
          <a:prstGeom prst="rect">
            <a:avLst/>
          </a:prstGeom>
        </p:spPr>
      </p:pic>
    </p:spTree>
    <p:extLst>
      <p:ext uri="{BB962C8B-B14F-4D97-AF65-F5344CB8AC3E}">
        <p14:creationId xmlns:p14="http://schemas.microsoft.com/office/powerpoint/2010/main" val="733304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25073-E81A-410A-755A-C95EB0491F64}"/>
              </a:ext>
            </a:extLst>
          </p:cNvPr>
          <p:cNvSpPr>
            <a:spLocks noGrp="1"/>
          </p:cNvSpPr>
          <p:nvPr>
            <p:ph type="title"/>
          </p:nvPr>
        </p:nvSpPr>
        <p:spPr/>
        <p:txBody>
          <a:bodyPr/>
          <a:lstStyle/>
          <a:p>
            <a:r>
              <a:rPr lang="en-IN" dirty="0"/>
              <a:t>Literature Review</a:t>
            </a:r>
          </a:p>
        </p:txBody>
      </p:sp>
      <p:sp>
        <p:nvSpPr>
          <p:cNvPr id="3" name="Content Placeholder 2">
            <a:extLst>
              <a:ext uri="{FF2B5EF4-FFF2-40B4-BE49-F238E27FC236}">
                <a16:creationId xmlns:a16="http://schemas.microsoft.com/office/drawing/2014/main" id="{D81FC014-A8DB-6B0A-B95D-7F2D88067846}"/>
              </a:ext>
            </a:extLst>
          </p:cNvPr>
          <p:cNvSpPr>
            <a:spLocks noGrp="1"/>
          </p:cNvSpPr>
          <p:nvPr>
            <p:ph idx="1"/>
          </p:nvPr>
        </p:nvSpPr>
        <p:spPr/>
        <p:txBody>
          <a:bodyPr>
            <a:normAutofit/>
          </a:bodyPr>
          <a:lstStyle/>
          <a:p>
            <a:pPr marL="0" indent="0" algn="just">
              <a:lnSpc>
                <a:spcPct val="100000"/>
              </a:lnSpc>
              <a:buNone/>
            </a:pPr>
            <a:r>
              <a:rPr lang="en-US" sz="2200" dirty="0">
                <a:latin typeface="+mj-lt"/>
              </a:rPr>
              <a:t>            </a:t>
            </a:r>
          </a:p>
          <a:p>
            <a:pPr marL="0" indent="0" algn="just">
              <a:lnSpc>
                <a:spcPct val="100000"/>
              </a:lnSpc>
              <a:buNone/>
            </a:pPr>
            <a:r>
              <a:rPr lang="en-US" sz="2200" dirty="0">
                <a:latin typeface="+mj-lt"/>
              </a:rPr>
              <a:t>             Most existing skincare apps focus only on product promotion or generic advice, without offering deep personalization based on individual skin types and sensitivities. Some AI-based solutions require high-quality medical-grade images or complex inputs, making them less user-friendly for everyday consumers. Few platforms combine AI-driven analysis, skincare education, and personalized routines in one integrated system. There is a need for an accessible, reliable, and user-friendly mobile solution that blends artificial intelligence with dermatological expertise to guide users toward informed skincare decisions. </a:t>
            </a:r>
            <a:endParaRPr lang="en-IN" sz="2200" dirty="0">
              <a:latin typeface="+mj-lt"/>
            </a:endParaRPr>
          </a:p>
        </p:txBody>
      </p:sp>
    </p:spTree>
    <p:extLst>
      <p:ext uri="{BB962C8B-B14F-4D97-AF65-F5344CB8AC3E}">
        <p14:creationId xmlns:p14="http://schemas.microsoft.com/office/powerpoint/2010/main" val="26805516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1D699-CCBF-F319-2A99-B1BE48CB7EA2}"/>
              </a:ext>
            </a:extLst>
          </p:cNvPr>
          <p:cNvSpPr>
            <a:spLocks noGrp="1"/>
          </p:cNvSpPr>
          <p:nvPr>
            <p:ph type="title"/>
          </p:nvPr>
        </p:nvSpPr>
        <p:spPr/>
        <p:txBody>
          <a:bodyPr/>
          <a:lstStyle/>
          <a:p>
            <a:r>
              <a:rPr lang="en-IN" dirty="0"/>
              <a:t>Existing System</a:t>
            </a:r>
          </a:p>
        </p:txBody>
      </p:sp>
      <p:sp>
        <p:nvSpPr>
          <p:cNvPr id="3" name="Content Placeholder 2">
            <a:extLst>
              <a:ext uri="{FF2B5EF4-FFF2-40B4-BE49-F238E27FC236}">
                <a16:creationId xmlns:a16="http://schemas.microsoft.com/office/drawing/2014/main" id="{931788D8-30E2-4BEB-92A6-1C883216ABD1}"/>
              </a:ext>
            </a:extLst>
          </p:cNvPr>
          <p:cNvSpPr>
            <a:spLocks noGrp="1"/>
          </p:cNvSpPr>
          <p:nvPr>
            <p:ph idx="1"/>
          </p:nvPr>
        </p:nvSpPr>
        <p:spPr/>
        <p:txBody>
          <a:bodyPr>
            <a:normAutofit/>
          </a:bodyPr>
          <a:lstStyle/>
          <a:p>
            <a:pPr algn="just"/>
            <a:r>
              <a:rPr lang="en-IN" dirty="0">
                <a:latin typeface="+mj-lt"/>
              </a:rPr>
              <a:t>Disadvantages</a:t>
            </a:r>
          </a:p>
          <a:p>
            <a:pPr algn="just">
              <a:lnSpc>
                <a:spcPct val="100000"/>
              </a:lnSpc>
              <a:buFont typeface="Courier New" panose="02070309020205020404" pitchFamily="49" charset="0"/>
              <a:buChar char="o"/>
            </a:pPr>
            <a:r>
              <a:rPr lang="en-US" sz="2200" dirty="0">
                <a:latin typeface="+mj-lt"/>
              </a:rPr>
              <a:t>Limited Skin Type Detection Accuracy: Many existing systems rely only on user-input questionnaires without image-based analysis, leading to inaccurate identification of skin types. </a:t>
            </a:r>
          </a:p>
          <a:p>
            <a:pPr algn="just">
              <a:lnSpc>
                <a:spcPct val="100000"/>
              </a:lnSpc>
              <a:buFont typeface="Courier New" panose="02070309020205020404" pitchFamily="49" charset="0"/>
              <a:buChar char="o"/>
            </a:pPr>
            <a:r>
              <a:rPr lang="en-US" sz="2200" dirty="0">
                <a:latin typeface="+mj-lt"/>
              </a:rPr>
              <a:t>No Ingredient Sensitivity Awareness: Current systems rarely analyze product ingredients or alert users about potential allergens or irritants that may harm sensitive skin.</a:t>
            </a:r>
          </a:p>
          <a:p>
            <a:pPr algn="just">
              <a:lnSpc>
                <a:spcPct val="100000"/>
              </a:lnSpc>
              <a:buFont typeface="Courier New" panose="02070309020205020404" pitchFamily="49" charset="0"/>
              <a:buChar char="o"/>
            </a:pPr>
            <a:r>
              <a:rPr lang="en-US" sz="2200" dirty="0">
                <a:latin typeface="+mj-lt"/>
              </a:rPr>
              <a:t>Poor User Guidance: Users often receive product suggestions without proper skincare routines or tips to build healthy habits.</a:t>
            </a:r>
          </a:p>
          <a:p>
            <a:pPr algn="just">
              <a:lnSpc>
                <a:spcPct val="100000"/>
              </a:lnSpc>
              <a:buFont typeface="Courier New" panose="02070309020205020404" pitchFamily="49" charset="0"/>
              <a:buChar char="o"/>
            </a:pPr>
            <a:r>
              <a:rPr lang="en-US" sz="2200" dirty="0">
                <a:latin typeface="+mj-lt"/>
              </a:rPr>
              <a:t>Limited Accessibility and Convenience: Consulting dermatologists or accessing expert skincare guidance can be time-consuming, expensive, or unavailable in remote areas.</a:t>
            </a:r>
            <a:endParaRPr lang="en-IN" sz="2200" dirty="0">
              <a:latin typeface="+mj-lt"/>
            </a:endParaRPr>
          </a:p>
        </p:txBody>
      </p:sp>
    </p:spTree>
    <p:extLst>
      <p:ext uri="{BB962C8B-B14F-4D97-AF65-F5344CB8AC3E}">
        <p14:creationId xmlns:p14="http://schemas.microsoft.com/office/powerpoint/2010/main" val="38577027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0F236-85C9-5C61-4527-4A0B1A2FD8D6}"/>
              </a:ext>
            </a:extLst>
          </p:cNvPr>
          <p:cNvSpPr>
            <a:spLocks noGrp="1"/>
          </p:cNvSpPr>
          <p:nvPr>
            <p:ph type="title"/>
          </p:nvPr>
        </p:nvSpPr>
        <p:spPr>
          <a:xfrm>
            <a:off x="1709530" y="262488"/>
            <a:ext cx="9644270" cy="1325563"/>
          </a:xfrm>
        </p:spPr>
        <p:txBody>
          <a:bodyPr/>
          <a:lstStyle/>
          <a:p>
            <a:r>
              <a:rPr lang="en-IN" dirty="0"/>
              <a:t>Proposed System</a:t>
            </a:r>
          </a:p>
        </p:txBody>
      </p:sp>
      <p:sp>
        <p:nvSpPr>
          <p:cNvPr id="3" name="Content Placeholder 2">
            <a:extLst>
              <a:ext uri="{FF2B5EF4-FFF2-40B4-BE49-F238E27FC236}">
                <a16:creationId xmlns:a16="http://schemas.microsoft.com/office/drawing/2014/main" id="{2DEA742D-F6AE-77F0-64F2-81A394C0BB9B}"/>
              </a:ext>
            </a:extLst>
          </p:cNvPr>
          <p:cNvSpPr>
            <a:spLocks noGrp="1"/>
          </p:cNvSpPr>
          <p:nvPr>
            <p:ph idx="1"/>
          </p:nvPr>
        </p:nvSpPr>
        <p:spPr/>
        <p:txBody>
          <a:bodyPr>
            <a:normAutofit/>
          </a:bodyPr>
          <a:lstStyle/>
          <a:p>
            <a:r>
              <a:rPr lang="en-IN" dirty="0">
                <a:latin typeface="+mj-lt"/>
              </a:rPr>
              <a:t>Advantages</a:t>
            </a:r>
          </a:p>
          <a:p>
            <a:pPr algn="just">
              <a:lnSpc>
                <a:spcPct val="100000"/>
              </a:lnSpc>
              <a:buFont typeface="Courier New" panose="02070309020205020404" pitchFamily="49" charset="0"/>
              <a:buChar char="o"/>
            </a:pPr>
            <a:r>
              <a:rPr lang="en-IN" sz="2200" dirty="0">
                <a:latin typeface="+mj-lt"/>
              </a:rPr>
              <a:t>Provides personalized skincare recommendations using AI analysis.</a:t>
            </a:r>
          </a:p>
          <a:p>
            <a:pPr algn="just">
              <a:lnSpc>
                <a:spcPct val="100000"/>
              </a:lnSpc>
              <a:buFont typeface="Courier New" panose="02070309020205020404" pitchFamily="49" charset="0"/>
              <a:buChar char="o"/>
            </a:pPr>
            <a:r>
              <a:rPr lang="en-IN" sz="2200" dirty="0">
                <a:latin typeface="+mj-lt"/>
              </a:rPr>
              <a:t>Accurately identifies skin type through questionnaire or image input.</a:t>
            </a:r>
          </a:p>
          <a:p>
            <a:pPr algn="just">
              <a:lnSpc>
                <a:spcPct val="100000"/>
              </a:lnSpc>
              <a:buFont typeface="Courier New" panose="02070309020205020404" pitchFamily="49" charset="0"/>
              <a:buChar char="o"/>
            </a:pPr>
            <a:r>
              <a:rPr lang="en-IN" sz="2200" dirty="0">
                <a:latin typeface="+mj-lt"/>
              </a:rPr>
              <a:t>Suggests safe products by avoiding harmful or irritating ingredients.</a:t>
            </a:r>
          </a:p>
          <a:p>
            <a:pPr algn="just">
              <a:lnSpc>
                <a:spcPct val="100000"/>
              </a:lnSpc>
              <a:buFont typeface="Courier New" panose="02070309020205020404" pitchFamily="49" charset="0"/>
              <a:buChar char="o"/>
            </a:pPr>
            <a:r>
              <a:rPr lang="en-IN" sz="2200" dirty="0">
                <a:latin typeface="+mj-lt"/>
              </a:rPr>
              <a:t>Offers custom skincare tips and routines for healthy skin habits.</a:t>
            </a:r>
          </a:p>
          <a:p>
            <a:pPr algn="just">
              <a:lnSpc>
                <a:spcPct val="100000"/>
              </a:lnSpc>
              <a:buFont typeface="Courier New" panose="02070309020205020404" pitchFamily="49" charset="0"/>
              <a:buChar char="o"/>
            </a:pPr>
            <a:r>
              <a:rPr lang="en-IN" sz="2200" dirty="0">
                <a:latin typeface="+mj-lt"/>
              </a:rPr>
              <a:t>Ensures a cost-effective and user-friendly skincare solution anytime, anywhere.</a:t>
            </a:r>
          </a:p>
        </p:txBody>
      </p:sp>
    </p:spTree>
    <p:extLst>
      <p:ext uri="{BB962C8B-B14F-4D97-AF65-F5344CB8AC3E}">
        <p14:creationId xmlns:p14="http://schemas.microsoft.com/office/powerpoint/2010/main" val="2779136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86453-35B3-471F-9235-3632A27284A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Conclusion</a:t>
            </a:r>
            <a:endParaRPr lang="en-IN" dirty="0"/>
          </a:p>
        </p:txBody>
      </p:sp>
      <p:sp>
        <p:nvSpPr>
          <p:cNvPr id="3" name="Content Placeholder 2">
            <a:extLst>
              <a:ext uri="{FF2B5EF4-FFF2-40B4-BE49-F238E27FC236}">
                <a16:creationId xmlns:a16="http://schemas.microsoft.com/office/drawing/2014/main" id="{0E91920F-524C-4E74-A866-0E90C44F9D1D}"/>
              </a:ext>
            </a:extLst>
          </p:cNvPr>
          <p:cNvSpPr>
            <a:spLocks noGrp="1"/>
          </p:cNvSpPr>
          <p:nvPr>
            <p:ph idx="1"/>
          </p:nvPr>
        </p:nvSpPr>
        <p:spPr/>
        <p:txBody>
          <a:bodyPr>
            <a:normAutofit/>
          </a:bodyPr>
          <a:lstStyle/>
          <a:p>
            <a:pPr marL="0" indent="0">
              <a:buNone/>
            </a:pPr>
            <a:r>
              <a:rPr lang="en-GB" sz="2200" dirty="0">
                <a:latin typeface="Times New Roman" panose="02020603050405020304" pitchFamily="18" charset="0"/>
                <a:cs typeface="Times New Roman" panose="02020603050405020304" pitchFamily="18" charset="0"/>
              </a:rPr>
              <a:t>The development of intelligent skincare assistance platform represents a significant advancement in the democratization of personalized skincare expertise. This project successfully delivers a comprehensive, Flask-based web application that integrates machine learning, secure user authentication, and holistic recommendation generation into a unified, accessible system. At the core of the application, a Random Forest classifier is trained to accurately classify four primary skin types—oily, dry, combination, and normal—from user-uploaded facial images, effectively eliminating the subjectivity and inaccuracies inherent in self-assessment methods that plague existing skincare solutions. The Python backend with Flask framework provides a robust, scalable architecture that seamlessly handles user registration, login, session management, image processing, and database operations, while the SQLite database ensures persistent storage of user credentials, skin profiles, analysis history, recommendation logs, and knowledge base content.</a:t>
            </a:r>
          </a:p>
        </p:txBody>
      </p:sp>
    </p:spTree>
    <p:extLst>
      <p:ext uri="{BB962C8B-B14F-4D97-AF65-F5344CB8AC3E}">
        <p14:creationId xmlns:p14="http://schemas.microsoft.com/office/powerpoint/2010/main" val="261342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58532-F178-430F-A448-457C91193B2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Future work</a:t>
            </a:r>
            <a:endParaRPr lang="en-IN" dirty="0"/>
          </a:p>
        </p:txBody>
      </p:sp>
      <p:sp>
        <p:nvSpPr>
          <p:cNvPr id="3" name="Content Placeholder 2">
            <a:extLst>
              <a:ext uri="{FF2B5EF4-FFF2-40B4-BE49-F238E27FC236}">
                <a16:creationId xmlns:a16="http://schemas.microsoft.com/office/drawing/2014/main" id="{A6AC2A38-E289-4BED-AC3B-35B0940CC5DD}"/>
              </a:ext>
            </a:extLst>
          </p:cNvPr>
          <p:cNvSpPr>
            <a:spLocks noGrp="1"/>
          </p:cNvSpPr>
          <p:nvPr>
            <p:ph idx="1"/>
          </p:nvPr>
        </p:nvSpPr>
        <p:spPr/>
        <p:txBody>
          <a:bodyPr/>
          <a:lstStyle/>
          <a:p>
            <a:pPr marL="0" indent="0">
              <a:buNone/>
            </a:pPr>
            <a:r>
              <a:rPr lang="en-GB" sz="2400" dirty="0">
                <a:latin typeface="Times New Roman" panose="02020603050405020304" pitchFamily="18" charset="0"/>
                <a:cs typeface="Times New Roman" panose="02020603050405020304" pitchFamily="18" charset="0"/>
              </a:rPr>
              <a:t>While the current implementation successfully achieves its core objectives, numerous opportunities exist to expand, refine, and enhance the application's capabilities. These future enhancements span multiple dimensions including machine learning advancements, dataset expansion, recommendation system improvements, mobile development, user experience enhancements, scalability upgrades, advanced analytics, external integrations, regulatory compliance, and language localization. The modular architecture of the existing system ensures that these enhancements can be incrementally implemented without disrupting core functionality.</a:t>
            </a:r>
          </a:p>
          <a:p>
            <a:pPr marL="0" indent="0">
              <a:buNone/>
            </a:pPr>
            <a:endParaRPr lang="en-IN" dirty="0"/>
          </a:p>
        </p:txBody>
      </p:sp>
    </p:spTree>
    <p:extLst>
      <p:ext uri="{BB962C8B-B14F-4D97-AF65-F5344CB8AC3E}">
        <p14:creationId xmlns:p14="http://schemas.microsoft.com/office/powerpoint/2010/main" val="28381928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51AB0-287C-437F-9B9B-1426B99C84A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References</a:t>
            </a:r>
            <a:endParaRPr lang="en-IN" dirty="0"/>
          </a:p>
        </p:txBody>
      </p:sp>
      <p:sp>
        <p:nvSpPr>
          <p:cNvPr id="3" name="Content Placeholder 2">
            <a:extLst>
              <a:ext uri="{FF2B5EF4-FFF2-40B4-BE49-F238E27FC236}">
                <a16:creationId xmlns:a16="http://schemas.microsoft.com/office/drawing/2014/main" id="{3E674DA6-C5BE-494E-A75D-437B3ACACA8C}"/>
              </a:ext>
            </a:extLst>
          </p:cNvPr>
          <p:cNvSpPr>
            <a:spLocks noGrp="1"/>
          </p:cNvSpPr>
          <p:nvPr>
            <p:ph idx="1"/>
          </p:nvPr>
        </p:nvSpPr>
        <p:spPr/>
        <p:txBody>
          <a:bodyPr>
            <a:normAutofit fontScale="62500" lnSpcReduction="20000"/>
          </a:bodyPr>
          <a:lstStyle/>
          <a:p>
            <a:pPr marL="0" indent="0">
              <a:lnSpc>
                <a:spcPct val="150000"/>
              </a:lnSpc>
              <a:buNone/>
            </a:pPr>
            <a:r>
              <a:rPr lang="en-GB" dirty="0">
                <a:latin typeface="Times New Roman" panose="02020603050405020304" pitchFamily="18" charset="0"/>
                <a:cs typeface="Times New Roman" panose="02020603050405020304" pitchFamily="18" charset="0"/>
              </a:rPr>
              <a:t>[1]</a:t>
            </a:r>
            <a:r>
              <a:rPr lang="en-GB" dirty="0" err="1">
                <a:latin typeface="Times New Roman" panose="02020603050405020304" pitchFamily="18" charset="0"/>
                <a:cs typeface="Times New Roman" panose="02020603050405020304" pitchFamily="18" charset="0"/>
              </a:rPr>
              <a:t>Jannatin</a:t>
            </a:r>
            <a:r>
              <a:rPr lang="en-GB" dirty="0">
                <a:latin typeface="Times New Roman" panose="02020603050405020304" pitchFamily="18" charset="0"/>
                <a:cs typeface="Times New Roman" panose="02020603050405020304" pitchFamily="18" charset="0"/>
              </a:rPr>
              <a:t>, A. A., &amp; </a:t>
            </a:r>
            <a:r>
              <a:rPr lang="en-GB" dirty="0" err="1">
                <a:latin typeface="Times New Roman" panose="02020603050405020304" pitchFamily="18" charset="0"/>
                <a:cs typeface="Times New Roman" panose="02020603050405020304" pitchFamily="18" charset="0"/>
              </a:rPr>
              <a:t>Ratnasari</a:t>
            </a:r>
            <a:r>
              <a:rPr lang="en-GB" dirty="0">
                <a:latin typeface="Times New Roman" panose="02020603050405020304" pitchFamily="18" charset="0"/>
                <a:cs typeface="Times New Roman" panose="02020603050405020304" pitchFamily="18" charset="0"/>
              </a:rPr>
              <a:t>, C. I. (2025). Personalized Skincare Recommendation System Based on Ontology and User Preferences. bit-Tech, 8(1), 1109-1119. </a:t>
            </a:r>
          </a:p>
          <a:p>
            <a:pPr marL="0" indent="0">
              <a:lnSpc>
                <a:spcPct val="150000"/>
              </a:lnSpc>
              <a:buNone/>
            </a:pPr>
            <a:r>
              <a:rPr lang="en-GB" dirty="0">
                <a:latin typeface="Times New Roman" panose="02020603050405020304" pitchFamily="18" charset="0"/>
                <a:cs typeface="Times New Roman" panose="02020603050405020304" pitchFamily="18" charset="0"/>
              </a:rPr>
              <a:t>[2]Crocker Garcia, G., Khan, M. N., </a:t>
            </a:r>
            <a:r>
              <a:rPr lang="en-GB" dirty="0" err="1">
                <a:latin typeface="Times New Roman" panose="02020603050405020304" pitchFamily="18" charset="0"/>
                <a:cs typeface="Times New Roman" panose="02020603050405020304" pitchFamily="18" charset="0"/>
              </a:rPr>
              <a:t>Alam</a:t>
            </a:r>
            <a:r>
              <a:rPr lang="en-GB" dirty="0">
                <a:latin typeface="Times New Roman" panose="02020603050405020304" pitchFamily="18" charset="0"/>
                <a:cs typeface="Times New Roman" panose="02020603050405020304" pitchFamily="18" charset="0"/>
              </a:rPr>
              <a:t>, A., Obregon, J., </a:t>
            </a:r>
            <a:r>
              <a:rPr lang="en-GB" dirty="0" err="1">
                <a:latin typeface="Times New Roman" panose="02020603050405020304" pitchFamily="18" charset="0"/>
                <a:cs typeface="Times New Roman" panose="02020603050405020304" pitchFamily="18" charset="0"/>
              </a:rPr>
              <a:t>Abuhmed</a:t>
            </a:r>
            <a:r>
              <a:rPr lang="en-GB" dirty="0">
                <a:latin typeface="Times New Roman" panose="02020603050405020304" pitchFamily="18" charset="0"/>
                <a:cs typeface="Times New Roman" panose="02020603050405020304" pitchFamily="18" charset="0"/>
              </a:rPr>
              <a:t>, T., &amp; Huh, E. N. (2025). </a:t>
            </a:r>
            <a:r>
              <a:rPr lang="en-GB" dirty="0" err="1">
                <a:latin typeface="Times New Roman" panose="02020603050405020304" pitchFamily="18" charset="0"/>
                <a:cs typeface="Times New Roman" panose="02020603050405020304" pitchFamily="18" charset="0"/>
              </a:rPr>
              <a:t>FiSC</a:t>
            </a:r>
            <a:r>
              <a:rPr lang="en-GB" dirty="0">
                <a:latin typeface="Times New Roman" panose="02020603050405020304" pitchFamily="18" charset="0"/>
                <a:cs typeface="Times New Roman" panose="02020603050405020304" pitchFamily="18" charset="0"/>
              </a:rPr>
              <a:t>: A Novel Approach for Fitzpatrick Scale-Based Skin Analyzer's Image Classification. IEEE Access, 13, 42934-42948. </a:t>
            </a:r>
          </a:p>
          <a:p>
            <a:pPr marL="0" indent="0">
              <a:lnSpc>
                <a:spcPct val="150000"/>
              </a:lnSpc>
              <a:buNone/>
            </a:pPr>
            <a:r>
              <a:rPr lang="en-GB" dirty="0">
                <a:latin typeface="Times New Roman" panose="02020603050405020304" pitchFamily="18" charset="0"/>
                <a:cs typeface="Times New Roman" panose="02020603050405020304" pitchFamily="18" charset="0"/>
              </a:rPr>
              <a:t>[3]Malaysian Facial Skin Texture Dataset (MFSTD) Development. (2025). In Proceedings of the International Conference on Image Processing and Computer Vision. IEEE. </a:t>
            </a:r>
          </a:p>
          <a:p>
            <a:pPr marL="0" indent="0">
              <a:lnSpc>
                <a:spcPct val="150000"/>
              </a:lnSpc>
              <a:buNone/>
            </a:pPr>
            <a:r>
              <a:rPr lang="en-GB" dirty="0">
                <a:latin typeface="Times New Roman" panose="02020603050405020304" pitchFamily="18" charset="0"/>
                <a:cs typeface="Times New Roman" panose="02020603050405020304" pitchFamily="18" charset="0"/>
              </a:rPr>
              <a:t>[4]Deep Neural Network-Based Personalized Makeup Recommendation Using Korean Skin Physiological Indicators. (2025). Journal of the Korean Society of Cosmetology. </a:t>
            </a:r>
          </a:p>
          <a:p>
            <a:pPr marL="0" indent="0">
              <a:lnSpc>
                <a:spcPct val="150000"/>
              </a:lnSpc>
              <a:buNone/>
            </a:pPr>
            <a:r>
              <a:rPr lang="en-GB" dirty="0">
                <a:latin typeface="Times New Roman" panose="02020603050405020304" pitchFamily="18" charset="0"/>
                <a:cs typeface="Times New Roman" panose="02020603050405020304" pitchFamily="18" charset="0"/>
              </a:rPr>
              <a:t>[5]</a:t>
            </a:r>
            <a:r>
              <a:rPr lang="en-GB" dirty="0" err="1">
                <a:latin typeface="Times New Roman" panose="02020603050405020304" pitchFamily="18" charset="0"/>
                <a:cs typeface="Times New Roman" panose="02020603050405020304" pitchFamily="18" charset="0"/>
              </a:rPr>
              <a:t>RecomiGlowTech</a:t>
            </a:r>
            <a:r>
              <a:rPr lang="en-GB" dirty="0">
                <a:latin typeface="Times New Roman" panose="02020603050405020304" pitchFamily="18" charset="0"/>
                <a:cs typeface="Times New Roman" panose="02020603050405020304" pitchFamily="18" charset="0"/>
              </a:rPr>
              <a:t>: Cosmetic Recommendation System. (2025). Informatics Institute of Technology, Sri Lanka. </a:t>
            </a:r>
          </a:p>
          <a:p>
            <a:endParaRPr lang="en-IN" dirty="0"/>
          </a:p>
        </p:txBody>
      </p:sp>
    </p:spTree>
    <p:extLst>
      <p:ext uri="{BB962C8B-B14F-4D97-AF65-F5344CB8AC3E}">
        <p14:creationId xmlns:p14="http://schemas.microsoft.com/office/powerpoint/2010/main" val="27565721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22</a:t>
            </a:fld>
            <a:endParaRPr lang="en-US"/>
          </a:p>
        </p:txBody>
      </p:sp>
      <p:sp>
        <p:nvSpPr>
          <p:cNvPr id="6" name="TextBox 5"/>
          <p:cNvSpPr txBox="1"/>
          <p:nvPr/>
        </p:nvSpPr>
        <p:spPr>
          <a:xfrm>
            <a:off x="3360331" y="3119694"/>
            <a:ext cx="5114365" cy="769441"/>
          </a:xfrm>
          <a:prstGeom prst="rect">
            <a:avLst/>
          </a:prstGeom>
          <a:noFill/>
        </p:spPr>
        <p:txBody>
          <a:bodyPr wrap="square">
            <a:spAutoFit/>
          </a:bodyPr>
          <a:lstStyle/>
          <a:p>
            <a:r>
              <a:rPr lang="en-US" sz="4400" dirty="0">
                <a:latin typeface="Times New Roman" panose="02020603050405020304" pitchFamily="18" charset="0"/>
                <a:cs typeface="Times New Roman" panose="02020603050405020304" pitchFamily="18" charset="0"/>
              </a:rPr>
              <a:t>💐 Thank You 💐</a:t>
            </a:r>
            <a:endParaRPr lang="en-IN" sz="44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imes New Roman-Arial">
      <a:maj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318</TotalTime>
  <Words>1075</Words>
  <Application>Microsoft Office PowerPoint</Application>
  <PresentationFormat>Widescreen</PresentationFormat>
  <Paragraphs>79</Paragraphs>
  <Slides>22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Courier New</vt:lpstr>
      <vt:lpstr>Times New Roman</vt:lpstr>
      <vt:lpstr>Custom Design</vt:lpstr>
      <vt:lpstr>VIDYA JYOTHI INSTITUTE OF TECHNOLOGY (Autonomous)</vt:lpstr>
      <vt:lpstr>Abstract:</vt:lpstr>
      <vt:lpstr>Introduction</vt:lpstr>
      <vt:lpstr>Objectives</vt:lpstr>
      <vt:lpstr>Literature Survey</vt:lpstr>
      <vt:lpstr>Literature Survey</vt:lpstr>
      <vt:lpstr>System requirements</vt:lpstr>
      <vt:lpstr>Architecture diagram</vt:lpstr>
      <vt:lpstr>FLOW DIAGRAM </vt:lpstr>
      <vt:lpstr>Application Screenshorts </vt:lpstr>
      <vt:lpstr>Register Page </vt:lpstr>
      <vt:lpstr>Login Page </vt:lpstr>
      <vt:lpstr>Data explore Page </vt:lpstr>
      <vt:lpstr>Category</vt:lpstr>
      <vt:lpstr>Suppiler</vt:lpstr>
      <vt:lpstr>Literature Review</vt:lpstr>
      <vt:lpstr>Existing System</vt:lpstr>
      <vt:lpstr>Proposed System</vt:lpstr>
      <vt:lpstr>Conclusion</vt:lpstr>
      <vt:lpstr>Future work</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OpenLearn Hub</dc:title>
  <dc:creator>asus</dc:creator>
  <cp:lastModifiedBy>Dell</cp:lastModifiedBy>
  <cp:revision>115</cp:revision>
  <dcterms:created xsi:type="dcterms:W3CDTF">2023-06-24T07:40:00Z</dcterms:created>
  <dcterms:modified xsi:type="dcterms:W3CDTF">2026-04-16T04:24:08Z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81513E968CA74C21AE3841C271B7963C_13</vt:lpwstr>
  </property>
  <property fmtid="{D5CDD505-2E9C-101B-9397-08002B2CF9AE}" pid="3" name="KSOProductBuildVer">
    <vt:lpwstr>1033-12.2.0.13431</vt:lpwstr>
  </property>
</Properties>
</file>